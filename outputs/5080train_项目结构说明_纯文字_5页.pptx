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ver-eyebrow">
            <a:extLst>
              <a:ext uri="{FF2B5EF4-FFF2-40B4-BE49-F238E27FC236}">
                <a16:creationId xmlns:a16="http://schemas.microsoft.com/office/drawing/2014/main" id="{060D7A7C-C383-44CE-A3B1-B1680602098E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>
                <a:solidFill>
                  <a:srgbClr val="B64A2B"/>
                </a:solidFill>
              </a:defRPr>
            </a:pPr>
            <a:r>
              <a:rPr sz="1050" b="1">
                <a:solidFill>
                  <a:srgbClr val="B64A2B"/>
                </a:solidFill>
              </a:rPr>
              <a:t>REPOSITORY GUIDE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69D8C7F6-FAA7-46AC-B859-17669E77F113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106680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 dirty="0">
                <a:solidFill>
                  <a:srgbClr val="111111"/>
                </a:solidFill>
              </a:rPr>
              <a:t>5080train </a:t>
            </a:r>
            <a:r>
              <a:rPr sz="3750" b="1" dirty="0" err="1">
                <a:solidFill>
                  <a:srgbClr val="111111"/>
                </a:solidFill>
              </a:rPr>
              <a:t>仓库</a:t>
            </a:r>
            <a:endParaRPr sz="3750" b="1" dirty="0">
              <a:solidFill>
                <a:srgbClr val="111111"/>
              </a:solidFill>
            </a:endParaRP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300FB974-CE3D-4A2D-AD0D-9D052EA1B013}"/>
              </a:ext>
            </a:extLst>
          </p:cNvPr>
          <p:cNvSpPr>
            <a:spLocks noGrp="1"/>
          </p:cNvSpPr>
          <p:nvPr/>
        </p:nvSpPr>
        <p:spPr>
          <a:xfrm>
            <a:off x="710840" y="2449791"/>
            <a:ext cx="933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rPr lang="zh-CN" altLang="en-US" sz="1800" b="0" dirty="0">
                <a:solidFill>
                  <a:srgbClr val="666666"/>
                </a:solidFill>
              </a:rPr>
              <a:t>概述</a:t>
            </a:r>
            <a:endParaRPr sz="1800" b="0" dirty="0">
              <a:solidFill>
                <a:srgbClr val="666666"/>
              </a:solidFill>
            </a:endParaRPr>
          </a:p>
        </p:txBody>
      </p:sp>
      <p:sp>
        <p:nvSpPr>
          <p:cNvPr id="4" name="cover-rule">
            <a:extLst>
              <a:ext uri="{FF2B5EF4-FFF2-40B4-BE49-F238E27FC236}">
                <a16:creationId xmlns:a16="http://schemas.microsoft.com/office/drawing/2014/main" id="{95BFB83C-013C-4D11-AC12-61CFDBA932B2}"/>
              </a:ext>
            </a:extLst>
          </p:cNvPr>
          <p:cNvSpPr>
            <a:spLocks noGrp="1"/>
          </p:cNvSpPr>
          <p:nvPr/>
        </p:nvSpPr>
        <p:spPr>
          <a:xfrm>
            <a:off x="514350" y="3600450"/>
            <a:ext cx="1118235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cover-map-num-0">
            <a:extLst>
              <a:ext uri="{FF2B5EF4-FFF2-40B4-BE49-F238E27FC236}">
                <a16:creationId xmlns:a16="http://schemas.microsoft.com/office/drawing/2014/main" id="{8C5D6D52-62A3-43B9-9423-3B49CF0C30B0}"/>
              </a:ext>
            </a:extLst>
          </p:cNvPr>
          <p:cNvSpPr>
            <a:spLocks noGrp="1"/>
          </p:cNvSpPr>
          <p:nvPr/>
        </p:nvSpPr>
        <p:spPr>
          <a:xfrm>
            <a:off x="533400" y="38862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B64A2B"/>
                </a:solidFill>
              </a:defRPr>
            </a:pPr>
            <a:r>
              <a:rPr sz="1200" b="1">
                <a:solidFill>
                  <a:srgbClr val="B64A2B"/>
                </a:solidFill>
              </a:rPr>
              <a:t>01</a:t>
            </a:r>
          </a:p>
        </p:txBody>
      </p:sp>
      <p:sp>
        <p:nvSpPr>
          <p:cNvPr id="6" name="cover-map-title-0">
            <a:extLst>
              <a:ext uri="{FF2B5EF4-FFF2-40B4-BE49-F238E27FC236}">
                <a16:creationId xmlns:a16="http://schemas.microsoft.com/office/drawing/2014/main" id="{E8128E18-EB4A-47D6-95D7-8FB73CD413F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准备数据</a:t>
            </a:r>
          </a:p>
        </p:txBody>
      </p:sp>
      <p:sp>
        <p:nvSpPr>
          <p:cNvPr id="7" name="cover-map-path-0">
            <a:extLst>
              <a:ext uri="{FF2B5EF4-FFF2-40B4-BE49-F238E27FC236}">
                <a16:creationId xmlns:a16="http://schemas.microsoft.com/office/drawing/2014/main" id="{6B431ED6-93B6-43D9-98E7-77C17F6AEED5}"/>
              </a:ext>
            </a:extLst>
          </p:cNvPr>
          <p:cNvSpPr>
            <a:spLocks noGrp="1"/>
          </p:cNvSpPr>
          <p:nvPr/>
        </p:nvSpPr>
        <p:spPr>
          <a:xfrm>
            <a:off x="3048000" y="38862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EarthquarkChoose</a:t>
            </a:r>
            <a:r>
              <a:rPr sz="1200" b="0" dirty="0">
                <a:solidFill>
                  <a:srgbClr val="666666"/>
                </a:solidFill>
              </a:rPr>
              <a:t>/ · </a:t>
            </a:r>
            <a:r>
              <a:rPr sz="1200" b="0" dirty="0" err="1">
                <a:solidFill>
                  <a:srgbClr val="666666"/>
                </a:solidFill>
              </a:rPr>
              <a:t>Dategeneral</a:t>
            </a:r>
            <a:r>
              <a:rPr sz="1200" b="0" dirty="0">
                <a:solidFill>
                  <a:srgbClr val="666666"/>
                </a:solidFill>
              </a:rPr>
              <a:t>/ · </a:t>
            </a:r>
            <a:r>
              <a:rPr sz="1200" b="0" dirty="0" err="1">
                <a:solidFill>
                  <a:srgbClr val="666666"/>
                </a:solidFill>
              </a:rPr>
              <a:t>xiaobotu</a:t>
            </a:r>
            <a:r>
              <a:rPr sz="1200" b="0" dirty="0">
                <a:solidFill>
                  <a:srgbClr val="666666"/>
                </a:solidFill>
              </a:rPr>
              <a:t>/</a:t>
            </a:r>
          </a:p>
        </p:txBody>
      </p:sp>
      <p:sp>
        <p:nvSpPr>
          <p:cNvPr id="8" name="cover-map-paper-0">
            <a:extLst>
              <a:ext uri="{FF2B5EF4-FFF2-40B4-BE49-F238E27FC236}">
                <a16:creationId xmlns:a16="http://schemas.microsoft.com/office/drawing/2014/main" id="{A3969282-00F3-4616-8FE1-8555A081651D}"/>
              </a:ext>
            </a:extLst>
          </p:cNvPr>
          <p:cNvSpPr>
            <a:spLocks noGrp="1"/>
          </p:cNvSpPr>
          <p:nvPr/>
        </p:nvSpPr>
        <p:spPr>
          <a:xfrm>
            <a:off x="8763000" y="3876675"/>
            <a:ext cx="280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111111"/>
                </a:solidFill>
              </a:defRPr>
            </a:pPr>
            <a:r>
              <a:rPr lang="zh-CN" altLang="en-US" sz="1200" b="0" dirty="0">
                <a:solidFill>
                  <a:srgbClr val="111111"/>
                </a:solidFill>
              </a:rPr>
              <a:t>地震波</a:t>
            </a:r>
            <a:r>
              <a:rPr sz="1200" b="0" dirty="0" err="1">
                <a:solidFill>
                  <a:srgbClr val="111111"/>
                </a:solidFill>
              </a:rPr>
              <a:t>选波</a:t>
            </a:r>
            <a:r>
              <a:rPr sz="1200" b="0" dirty="0">
                <a:solidFill>
                  <a:srgbClr val="111111"/>
                </a:solidFill>
              </a:rPr>
              <a:t>、</a:t>
            </a:r>
            <a:r>
              <a:rPr lang="zh-CN" altLang="en-US" sz="1200" b="0" dirty="0">
                <a:solidFill>
                  <a:srgbClr val="111111"/>
                </a:solidFill>
              </a:rPr>
              <a:t>生成数据集</a:t>
            </a:r>
            <a:r>
              <a:rPr sz="1200" b="0" dirty="0">
                <a:solidFill>
                  <a:srgbClr val="111111"/>
                </a:solidFill>
              </a:rPr>
              <a:t>、</a:t>
            </a:r>
            <a:r>
              <a:rPr lang="zh-CN" altLang="en-US" sz="1200" b="0" dirty="0">
                <a:solidFill>
                  <a:srgbClr val="111111"/>
                </a:solidFill>
              </a:rPr>
              <a:t>绘制</a:t>
            </a:r>
            <a:r>
              <a:rPr sz="1200" b="0" dirty="0" err="1">
                <a:solidFill>
                  <a:srgbClr val="111111"/>
                </a:solidFill>
              </a:rPr>
              <a:t>小波图</a:t>
            </a:r>
            <a:endParaRPr sz="1200" b="0" dirty="0">
              <a:solidFill>
                <a:srgbClr val="111111"/>
              </a:solidFill>
            </a:endParaRPr>
          </a:p>
        </p:txBody>
      </p:sp>
      <p:sp>
        <p:nvSpPr>
          <p:cNvPr id="9" name="cover-map-num-1">
            <a:extLst>
              <a:ext uri="{FF2B5EF4-FFF2-40B4-BE49-F238E27FC236}">
                <a16:creationId xmlns:a16="http://schemas.microsoft.com/office/drawing/2014/main" id="{08A0ACFA-8505-43EF-8FF1-33F406D37264}"/>
              </a:ext>
            </a:extLst>
          </p:cNvPr>
          <p:cNvSpPr>
            <a:spLocks noGrp="1"/>
          </p:cNvSpPr>
          <p:nvPr/>
        </p:nvSpPr>
        <p:spPr>
          <a:xfrm>
            <a:off x="533400" y="4438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B64A2B"/>
                </a:solidFill>
              </a:defRPr>
            </a:pPr>
            <a:r>
              <a:rPr sz="1200" b="1">
                <a:solidFill>
                  <a:srgbClr val="B64A2B"/>
                </a:solidFill>
              </a:rPr>
              <a:t>02</a:t>
            </a:r>
          </a:p>
        </p:txBody>
      </p:sp>
      <p:sp>
        <p:nvSpPr>
          <p:cNvPr id="10" name="cover-map-title-1">
            <a:extLst>
              <a:ext uri="{FF2B5EF4-FFF2-40B4-BE49-F238E27FC236}">
                <a16:creationId xmlns:a16="http://schemas.microsoft.com/office/drawing/2014/main" id="{5AE2596E-23E3-4A9D-9C93-00586910FF1D}"/>
              </a:ext>
            </a:extLst>
          </p:cNvPr>
          <p:cNvSpPr>
            <a:spLocks noGrp="1"/>
          </p:cNvSpPr>
          <p:nvPr/>
        </p:nvSpPr>
        <p:spPr>
          <a:xfrm>
            <a:off x="1123950" y="44196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训练模型</a:t>
            </a:r>
          </a:p>
        </p:txBody>
      </p:sp>
      <p:sp>
        <p:nvSpPr>
          <p:cNvPr id="11" name="cover-map-path-1">
            <a:extLst>
              <a:ext uri="{FF2B5EF4-FFF2-40B4-BE49-F238E27FC236}">
                <a16:creationId xmlns:a16="http://schemas.microsoft.com/office/drawing/2014/main" id="{70B009D8-9E9C-45AD-AB23-A615E734B829}"/>
              </a:ext>
            </a:extLst>
          </p:cNvPr>
          <p:cNvSpPr>
            <a:spLocks noGrp="1"/>
          </p:cNvSpPr>
          <p:nvPr/>
        </p:nvSpPr>
        <p:spPr>
          <a:xfrm>
            <a:off x="3048000" y="443865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>
                <a:solidFill>
                  <a:srgbClr val="666666"/>
                </a:solidFill>
              </a:rPr>
              <a:t>2dcnnv1/ · lstmv1/ · wavenetv1/ · </a:t>
            </a:r>
            <a:r>
              <a:rPr sz="1200" b="0" dirty="0" err="1">
                <a:solidFill>
                  <a:srgbClr val="666666"/>
                </a:solidFill>
              </a:rPr>
              <a:t>其他</a:t>
            </a:r>
            <a:r>
              <a:rPr sz="1200" b="0" dirty="0">
                <a:solidFill>
                  <a:srgbClr val="666666"/>
                </a:solidFill>
              </a:rPr>
              <a:t> *v1/</a:t>
            </a:r>
          </a:p>
        </p:txBody>
      </p:sp>
      <p:sp>
        <p:nvSpPr>
          <p:cNvPr id="12" name="cover-map-paper-1">
            <a:extLst>
              <a:ext uri="{FF2B5EF4-FFF2-40B4-BE49-F238E27FC236}">
                <a16:creationId xmlns:a16="http://schemas.microsoft.com/office/drawing/2014/main" id="{3C88F7C9-CE13-46B9-8C33-74EDC194DD2E}"/>
              </a:ext>
            </a:extLst>
          </p:cNvPr>
          <p:cNvSpPr>
            <a:spLocks noGrp="1"/>
          </p:cNvSpPr>
          <p:nvPr/>
        </p:nvSpPr>
        <p:spPr>
          <a:xfrm>
            <a:off x="8763000" y="4429125"/>
            <a:ext cx="280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111111"/>
                </a:solidFill>
              </a:defRPr>
            </a:pPr>
            <a:r>
              <a:rPr lang="zh-CN" altLang="en-US" sz="1200" b="0" dirty="0">
                <a:solidFill>
                  <a:srgbClr val="111111"/>
                </a:solidFill>
              </a:rPr>
              <a:t>各模型</a:t>
            </a:r>
            <a:r>
              <a:rPr sz="1200" b="0" dirty="0" err="1">
                <a:solidFill>
                  <a:srgbClr val="111111"/>
                </a:solidFill>
              </a:rPr>
              <a:t>训练</a:t>
            </a:r>
            <a:r>
              <a:rPr lang="zh-CN" altLang="en-US" sz="1200" b="0" dirty="0">
                <a:solidFill>
                  <a:srgbClr val="111111"/>
                </a:solidFill>
              </a:rPr>
              <a:t>脚本</a:t>
            </a:r>
            <a:r>
              <a:rPr sz="1200" b="0" dirty="0">
                <a:solidFill>
                  <a:srgbClr val="111111"/>
                </a:solidFill>
              </a:rPr>
              <a:t>、</a:t>
            </a:r>
            <a:r>
              <a:rPr sz="1200" b="0" dirty="0" err="1">
                <a:solidFill>
                  <a:srgbClr val="111111"/>
                </a:solidFill>
              </a:rPr>
              <a:t>测试</a:t>
            </a:r>
            <a:r>
              <a:rPr lang="zh-CN" altLang="en-US" sz="1200" b="0" dirty="0">
                <a:solidFill>
                  <a:srgbClr val="111111"/>
                </a:solidFill>
              </a:rPr>
              <a:t>脚本</a:t>
            </a:r>
            <a:r>
              <a:rPr sz="1200" b="0" dirty="0">
                <a:solidFill>
                  <a:srgbClr val="111111"/>
                </a:solidFill>
              </a:rPr>
              <a:t>、</a:t>
            </a:r>
            <a:r>
              <a:rPr sz="1200" b="0" dirty="0" err="1">
                <a:solidFill>
                  <a:srgbClr val="111111"/>
                </a:solidFill>
              </a:rPr>
              <a:t>保存结果</a:t>
            </a:r>
            <a:endParaRPr sz="1200" b="0" dirty="0">
              <a:solidFill>
                <a:srgbClr val="111111"/>
              </a:solidFill>
            </a:endParaRPr>
          </a:p>
        </p:txBody>
      </p:sp>
      <p:sp>
        <p:nvSpPr>
          <p:cNvPr id="13" name="cover-map-num-2">
            <a:extLst>
              <a:ext uri="{FF2B5EF4-FFF2-40B4-BE49-F238E27FC236}">
                <a16:creationId xmlns:a16="http://schemas.microsoft.com/office/drawing/2014/main" id="{AB49FAF8-09AF-4A6A-8A1B-F884BCEEFAFF}"/>
              </a:ext>
            </a:extLst>
          </p:cNvPr>
          <p:cNvSpPr>
            <a:spLocks noGrp="1"/>
          </p:cNvSpPr>
          <p:nvPr/>
        </p:nvSpPr>
        <p:spPr>
          <a:xfrm>
            <a:off x="533400" y="49911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B64A2B"/>
                </a:solidFill>
              </a:defRPr>
            </a:pPr>
            <a:r>
              <a:rPr sz="1200" b="1">
                <a:solidFill>
                  <a:srgbClr val="B64A2B"/>
                </a:solidFill>
              </a:rPr>
              <a:t>03</a:t>
            </a:r>
          </a:p>
        </p:txBody>
      </p:sp>
      <p:sp>
        <p:nvSpPr>
          <p:cNvPr id="14" name="cover-map-title-2">
            <a:extLst>
              <a:ext uri="{FF2B5EF4-FFF2-40B4-BE49-F238E27FC236}">
                <a16:creationId xmlns:a16="http://schemas.microsoft.com/office/drawing/2014/main" id="{D30AFF1E-8F70-4736-870C-827E665DF3A3}"/>
              </a:ext>
            </a:extLst>
          </p:cNvPr>
          <p:cNvSpPr>
            <a:spLocks noGrp="1"/>
          </p:cNvSpPr>
          <p:nvPr/>
        </p:nvSpPr>
        <p:spPr>
          <a:xfrm>
            <a:off x="1123950" y="497205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批量实验</a:t>
            </a:r>
          </a:p>
        </p:txBody>
      </p:sp>
      <p:sp>
        <p:nvSpPr>
          <p:cNvPr id="15" name="cover-map-path-2">
            <a:extLst>
              <a:ext uri="{FF2B5EF4-FFF2-40B4-BE49-F238E27FC236}">
                <a16:creationId xmlns:a16="http://schemas.microsoft.com/office/drawing/2014/main" id="{494CE0DB-2459-4B7A-A46E-338CE852A91D}"/>
              </a:ext>
            </a:extLst>
          </p:cNvPr>
          <p:cNvSpPr>
            <a:spLocks noGrp="1"/>
          </p:cNvSpPr>
          <p:nvPr/>
        </p:nvSpPr>
        <p:spPr>
          <a:xfrm>
            <a:off x="3048000" y="49911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>
                <a:solidFill>
                  <a:srgbClr val="666666"/>
                </a:solidFill>
              </a:rPr>
              <a:t>update/</a:t>
            </a:r>
          </a:p>
        </p:txBody>
      </p:sp>
      <p:sp>
        <p:nvSpPr>
          <p:cNvPr id="16" name="cover-map-paper-2">
            <a:extLst>
              <a:ext uri="{FF2B5EF4-FFF2-40B4-BE49-F238E27FC236}">
                <a16:creationId xmlns:a16="http://schemas.microsoft.com/office/drawing/2014/main" id="{05163E06-5AA2-4A12-8AC6-C48FD991ABAE}"/>
              </a:ext>
            </a:extLst>
          </p:cNvPr>
          <p:cNvSpPr>
            <a:spLocks noGrp="1"/>
          </p:cNvSpPr>
          <p:nvPr/>
        </p:nvSpPr>
        <p:spPr>
          <a:xfrm>
            <a:off x="8763000" y="4981575"/>
            <a:ext cx="2809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0">
                <a:solidFill>
                  <a:srgbClr val="111111"/>
                </a:solidFill>
              </a:defRPr>
            </a:pPr>
            <a:r>
              <a:rPr lang="en-US" sz="1200" b="0" dirty="0" err="1">
                <a:solidFill>
                  <a:srgbClr val="111111"/>
                </a:solidFill>
              </a:rPr>
              <a:t>O</a:t>
            </a:r>
            <a:r>
              <a:rPr lang="en-US" altLang="zh-CN" sz="1200" b="0" dirty="0" err="1">
                <a:solidFill>
                  <a:srgbClr val="111111"/>
                </a:solidFill>
              </a:rPr>
              <a:t>ptuna</a:t>
            </a:r>
            <a:r>
              <a:rPr sz="1200" b="0" dirty="0" err="1">
                <a:solidFill>
                  <a:srgbClr val="111111"/>
                </a:solidFill>
              </a:rPr>
              <a:t>调参、重复</a:t>
            </a:r>
            <a:r>
              <a:rPr lang="zh-CN" altLang="en-US" sz="1200" b="0" dirty="0">
                <a:solidFill>
                  <a:srgbClr val="111111"/>
                </a:solidFill>
              </a:rPr>
              <a:t>实验</a:t>
            </a:r>
            <a:r>
              <a:rPr sz="1200" b="0" dirty="0">
                <a:solidFill>
                  <a:srgbClr val="111111"/>
                </a:solidFill>
              </a:rPr>
              <a:t>、</a:t>
            </a:r>
            <a:r>
              <a:rPr sz="1200" b="0" dirty="0" err="1">
                <a:solidFill>
                  <a:srgbClr val="111111"/>
                </a:solidFill>
              </a:rPr>
              <a:t>消融、统计</a:t>
            </a:r>
            <a:endParaRPr sz="1200" b="0" dirty="0">
              <a:solidFill>
                <a:srgbClr val="111111"/>
              </a:solidFill>
            </a:endParaRPr>
          </a:p>
        </p:txBody>
      </p:sp>
      <p:sp>
        <p:nvSpPr>
          <p:cNvPr id="21" name="footer-project-1">
            <a:extLst>
              <a:ext uri="{FF2B5EF4-FFF2-40B4-BE49-F238E27FC236}">
                <a16:creationId xmlns:a16="http://schemas.microsoft.com/office/drawing/2014/main" id="{938C68B8-96EB-4E28-B568-47A27D7ADCD3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5080train / PROJECT STRUCTURE</a:t>
            </a:r>
          </a:p>
        </p:txBody>
      </p:sp>
      <p:sp>
        <p:nvSpPr>
          <p:cNvPr id="22" name="footer-page-1">
            <a:extLst>
              <a:ext uri="{FF2B5EF4-FFF2-40B4-BE49-F238E27FC236}">
                <a16:creationId xmlns:a16="http://schemas.microsoft.com/office/drawing/2014/main" id="{2127BF72-96A4-464B-912F-8487537BF4FA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490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ection-2">
            <a:extLst>
              <a:ext uri="{FF2B5EF4-FFF2-40B4-BE49-F238E27FC236}">
                <a16:creationId xmlns:a16="http://schemas.microsoft.com/office/drawing/2014/main" id="{B69D699C-5459-4AAF-80FF-61453A10B6C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B64A2B"/>
                </a:solidFill>
              </a:defRPr>
            </a:pPr>
            <a:r>
              <a:rPr sz="975" b="1">
                <a:solidFill>
                  <a:srgbClr val="B64A2B"/>
                </a:solidFill>
              </a:rPr>
              <a:t>01 / DATA SCRIPTS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5CFF5678-0E53-4F1E-A61F-31B5304B7CD0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准备数据：先选地震波，再生成结构数据和图片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610382E7-E036-4123-926C-AF146E0E5333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data-upstream-head">
            <a:extLst>
              <a:ext uri="{FF2B5EF4-FFF2-40B4-BE49-F238E27FC236}">
                <a16:creationId xmlns:a16="http://schemas.microsoft.com/office/drawing/2014/main" id="{E2BA5BA5-3E43-4999-AA82-809EC57B9241}"/>
              </a:ext>
            </a:extLst>
          </p:cNvPr>
          <p:cNvSpPr>
            <a:spLocks noGrp="1"/>
          </p:cNvSpPr>
          <p:nvPr/>
        </p:nvSpPr>
        <p:spPr>
          <a:xfrm>
            <a:off x="514350" y="16192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目录和关键脚本</a:t>
            </a:r>
          </a:p>
        </p:txBody>
      </p:sp>
      <p:sp>
        <p:nvSpPr>
          <p:cNvPr id="5" name="data-store-head">
            <a:extLst>
              <a:ext uri="{FF2B5EF4-FFF2-40B4-BE49-F238E27FC236}">
                <a16:creationId xmlns:a16="http://schemas.microsoft.com/office/drawing/2014/main" id="{3F1AE791-FC6C-40D8-A6C9-8C3A546DE2FF}"/>
              </a:ext>
            </a:extLst>
          </p:cNvPr>
          <p:cNvSpPr>
            <a:spLocks noGrp="1"/>
          </p:cNvSpPr>
          <p:nvPr/>
        </p:nvSpPr>
        <p:spPr>
          <a:xfrm>
            <a:off x="6229350" y="1619250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脚本做什么</a:t>
            </a:r>
          </a:p>
        </p:txBody>
      </p:sp>
      <p:sp>
        <p:nvSpPr>
          <p:cNvPr id="6" name="data-divider">
            <a:extLst>
              <a:ext uri="{FF2B5EF4-FFF2-40B4-BE49-F238E27FC236}">
                <a16:creationId xmlns:a16="http://schemas.microsoft.com/office/drawing/2014/main" id="{D111196C-3007-440D-BC75-5EB1C86C9C35}"/>
              </a:ext>
            </a:extLst>
          </p:cNvPr>
          <p:cNvSpPr>
            <a:spLocks noGrp="1"/>
          </p:cNvSpPr>
          <p:nvPr/>
        </p:nvSpPr>
        <p:spPr>
          <a:xfrm>
            <a:off x="5848350" y="1619250"/>
            <a:ext cx="9525" cy="4267200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up-path-0">
            <a:extLst>
              <a:ext uri="{FF2B5EF4-FFF2-40B4-BE49-F238E27FC236}">
                <a16:creationId xmlns:a16="http://schemas.microsoft.com/office/drawing/2014/main" id="{75B759E6-C1B4-44FF-96A9-14B6493627C0}"/>
              </a:ext>
            </a:extLst>
          </p:cNvPr>
          <p:cNvSpPr>
            <a:spLocks noGrp="1"/>
          </p:cNvSpPr>
          <p:nvPr/>
        </p:nvSpPr>
        <p:spPr>
          <a:xfrm>
            <a:off x="514350" y="21431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B64A2B"/>
                </a:solidFill>
              </a:defRPr>
            </a:pPr>
            <a:r>
              <a:rPr sz="1350" b="0">
                <a:solidFill>
                  <a:srgbClr val="B64A2B"/>
                </a:solidFill>
              </a:rPr>
              <a:t>EarthquarkChoose/scripts/</a:t>
            </a:r>
          </a:p>
        </p:txBody>
      </p:sp>
      <p:sp>
        <p:nvSpPr>
          <p:cNvPr id="8" name="up-sub-0">
            <a:extLst>
              <a:ext uri="{FF2B5EF4-FFF2-40B4-BE49-F238E27FC236}">
                <a16:creationId xmlns:a16="http://schemas.microsoft.com/office/drawing/2014/main" id="{7E67E23B-EC25-4642-B43A-8DBFEA707429}"/>
              </a:ext>
            </a:extLst>
          </p:cNvPr>
          <p:cNvSpPr>
            <a:spLocks noGrp="1"/>
          </p:cNvSpPr>
          <p:nvPr/>
        </p:nvSpPr>
        <p:spPr>
          <a:xfrm>
            <a:off x="514350" y="24860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select_shanghai_waves.py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extract_20s_windows_ia.py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waves_to_hdf5.py</a:t>
            </a:r>
          </a:p>
        </p:txBody>
      </p:sp>
      <p:sp>
        <p:nvSpPr>
          <p:cNvPr id="9" name="up-body-0">
            <a:extLst>
              <a:ext uri="{FF2B5EF4-FFF2-40B4-BE49-F238E27FC236}">
                <a16:creationId xmlns:a16="http://schemas.microsoft.com/office/drawing/2014/main" id="{48B107C8-04B0-49EB-97CC-A8D8F63CB055}"/>
              </a:ext>
            </a:extLst>
          </p:cNvPr>
          <p:cNvSpPr>
            <a:spLocks noGrp="1"/>
          </p:cNvSpPr>
          <p:nvPr/>
        </p:nvSpPr>
        <p:spPr>
          <a:xfrm>
            <a:off x="6229350" y="219075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按上海设防要求挑选地震波；截取能量最集中的 20 秒；最后把波形整理成 HDF5 数据库。</a:t>
            </a:r>
          </a:p>
        </p:txBody>
      </p:sp>
      <p:sp>
        <p:nvSpPr>
          <p:cNvPr id="10" name="data-row-rule-0">
            <a:extLst>
              <a:ext uri="{FF2B5EF4-FFF2-40B4-BE49-F238E27FC236}">
                <a16:creationId xmlns:a16="http://schemas.microsoft.com/office/drawing/2014/main" id="{41B95ED4-EF5E-43BD-87EC-D7F70BE5AC3A}"/>
              </a:ext>
            </a:extLst>
          </p:cNvPr>
          <p:cNvSpPr>
            <a:spLocks noGrp="1"/>
          </p:cNvSpPr>
          <p:nvPr/>
        </p:nvSpPr>
        <p:spPr>
          <a:xfrm>
            <a:off x="514350" y="3171825"/>
            <a:ext cx="108585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up-path-1">
            <a:extLst>
              <a:ext uri="{FF2B5EF4-FFF2-40B4-BE49-F238E27FC236}">
                <a16:creationId xmlns:a16="http://schemas.microsoft.com/office/drawing/2014/main" id="{6801AC9C-7C08-4A62-B5BF-BF45F6D76159}"/>
              </a:ext>
            </a:extLst>
          </p:cNvPr>
          <p:cNvSpPr>
            <a:spLocks noGrp="1"/>
          </p:cNvSpPr>
          <p:nvPr/>
        </p:nvSpPr>
        <p:spPr>
          <a:xfrm>
            <a:off x="514350" y="33432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B64A2B"/>
                </a:solidFill>
              </a:defRPr>
            </a:pPr>
            <a:r>
              <a:rPr sz="1350" b="0">
                <a:solidFill>
                  <a:srgbClr val="B64A2B"/>
                </a:solidFill>
              </a:rPr>
              <a:t>Dategeneral/</a:t>
            </a:r>
          </a:p>
        </p:txBody>
      </p:sp>
      <p:sp>
        <p:nvSpPr>
          <p:cNvPr id="12" name="up-sub-1">
            <a:extLst>
              <a:ext uri="{FF2B5EF4-FFF2-40B4-BE49-F238E27FC236}">
                <a16:creationId xmlns:a16="http://schemas.microsoft.com/office/drawing/2014/main" id="{B68CB88F-66EA-4918-947F-0DCBACFB799B}"/>
              </a:ext>
            </a:extLst>
          </p:cNvPr>
          <p:cNvSpPr>
            <a:spLocks noGrp="1"/>
          </p:cNvSpPr>
          <p:nvPr/>
        </p:nvSpPr>
        <p:spPr>
          <a:xfrm>
            <a:off x="514350" y="368617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>
                <a:solidFill>
                  <a:srgbClr val="111111"/>
                </a:solidFill>
              </a:rPr>
              <a:t>数据集生成-…-尾部增强版.py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 err="1">
                <a:solidFill>
                  <a:srgbClr val="111111"/>
                </a:solidFill>
              </a:rPr>
              <a:t>对应的</a:t>
            </a:r>
            <a:r>
              <a:rPr sz="1200" b="0" dirty="0">
                <a:solidFill>
                  <a:srgbClr val="111111"/>
                </a:solidFill>
              </a:rPr>
              <a:t> .</a:t>
            </a:r>
            <a:r>
              <a:rPr sz="1200" b="0" dirty="0" err="1">
                <a:solidFill>
                  <a:srgbClr val="111111"/>
                </a:solidFill>
              </a:rPr>
              <a:t>hyperparams.json</a:t>
            </a:r>
            <a:endParaRPr sz="1200" b="0" dirty="0">
              <a:solidFill>
                <a:srgbClr val="111111"/>
              </a:solidFill>
            </a:endParaRPr>
          </a:p>
        </p:txBody>
      </p:sp>
      <p:sp>
        <p:nvSpPr>
          <p:cNvPr id="13" name="up-body-1">
            <a:extLst>
              <a:ext uri="{FF2B5EF4-FFF2-40B4-BE49-F238E27FC236}">
                <a16:creationId xmlns:a16="http://schemas.microsoft.com/office/drawing/2014/main" id="{560DFD95-F30A-4C5A-AB94-11F76E2D5D35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调用</a:t>
            </a:r>
            <a:r>
              <a:rPr sz="1200" b="0" dirty="0">
                <a:solidFill>
                  <a:srgbClr val="666666"/>
                </a:solidFill>
              </a:rPr>
              <a:t> </a:t>
            </a:r>
            <a:r>
              <a:rPr sz="1200" b="0" dirty="0" err="1">
                <a:solidFill>
                  <a:srgbClr val="666666"/>
                </a:solidFill>
              </a:rPr>
              <a:t>OpenSees</a:t>
            </a:r>
            <a:r>
              <a:rPr sz="1200" b="0" dirty="0">
                <a:solidFill>
                  <a:srgbClr val="666666"/>
                </a:solidFill>
              </a:rPr>
              <a:t> </a:t>
            </a:r>
            <a:r>
              <a:rPr sz="1200" b="0" dirty="0" err="1">
                <a:solidFill>
                  <a:srgbClr val="666666"/>
                </a:solidFill>
              </a:rPr>
              <a:t>批量计算不同楼层、结构和阻尼器参数，生成训练集、验证集和测试集</a:t>
            </a:r>
            <a:r>
              <a:rPr sz="1200" b="0" dirty="0">
                <a:solidFill>
                  <a:srgbClr val="666666"/>
                </a:solidFill>
              </a:rPr>
              <a:t> CSV。JSON </a:t>
            </a:r>
            <a:r>
              <a:rPr sz="1200" b="0" dirty="0" err="1">
                <a:solidFill>
                  <a:srgbClr val="666666"/>
                </a:solidFill>
              </a:rPr>
              <a:t>文件放运行参数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4" name="data-row-rule-1">
            <a:extLst>
              <a:ext uri="{FF2B5EF4-FFF2-40B4-BE49-F238E27FC236}">
                <a16:creationId xmlns:a16="http://schemas.microsoft.com/office/drawing/2014/main" id="{5740B9D0-0420-4D41-A984-97115228845D}"/>
              </a:ext>
            </a:extLst>
          </p:cNvPr>
          <p:cNvSpPr>
            <a:spLocks noGrp="1"/>
          </p:cNvSpPr>
          <p:nvPr/>
        </p:nvSpPr>
        <p:spPr>
          <a:xfrm>
            <a:off x="514350" y="4371975"/>
            <a:ext cx="108585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up-path-2">
            <a:extLst>
              <a:ext uri="{FF2B5EF4-FFF2-40B4-BE49-F238E27FC236}">
                <a16:creationId xmlns:a16="http://schemas.microsoft.com/office/drawing/2014/main" id="{FC8FCE29-AD83-4D20-867E-0852969EAA09}"/>
              </a:ext>
            </a:extLst>
          </p:cNvPr>
          <p:cNvSpPr>
            <a:spLocks noGrp="1"/>
          </p:cNvSpPr>
          <p:nvPr/>
        </p:nvSpPr>
        <p:spPr>
          <a:xfrm>
            <a:off x="514350" y="45434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B64A2B"/>
                </a:solidFill>
              </a:defRPr>
            </a:pPr>
            <a:r>
              <a:rPr sz="1350" b="0">
                <a:solidFill>
                  <a:srgbClr val="B64A2B"/>
                </a:solidFill>
              </a:rPr>
              <a:t>xiaobotu/</a:t>
            </a:r>
          </a:p>
        </p:txBody>
      </p:sp>
      <p:sp>
        <p:nvSpPr>
          <p:cNvPr id="16" name="up-sub-2">
            <a:extLst>
              <a:ext uri="{FF2B5EF4-FFF2-40B4-BE49-F238E27FC236}">
                <a16:creationId xmlns:a16="http://schemas.microsoft.com/office/drawing/2014/main" id="{BAEC669C-FD22-4ACD-97E5-C2DC0836D2D8}"/>
              </a:ext>
            </a:extLst>
          </p:cNvPr>
          <p:cNvSpPr>
            <a:spLocks noGrp="1"/>
          </p:cNvSpPr>
          <p:nvPr/>
        </p:nvSpPr>
        <p:spPr>
          <a:xfrm>
            <a:off x="514350" y="48863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4-TXT_小波图绘制.py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5-TXT_时程图绘制.py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update_db.py · verify_db.py</a:t>
            </a:r>
          </a:p>
        </p:txBody>
      </p:sp>
      <p:sp>
        <p:nvSpPr>
          <p:cNvPr id="17" name="up-body-2">
            <a:extLst>
              <a:ext uri="{FF2B5EF4-FFF2-40B4-BE49-F238E27FC236}">
                <a16:creationId xmlns:a16="http://schemas.microsoft.com/office/drawing/2014/main" id="{64B3AF59-443C-4BB6-8968-F66384D96092}"/>
              </a:ext>
            </a:extLst>
          </p:cNvPr>
          <p:cNvSpPr>
            <a:spLocks noGrp="1"/>
          </p:cNvSpPr>
          <p:nvPr/>
        </p:nvSpPr>
        <p:spPr>
          <a:xfrm>
            <a:off x="6229350" y="4591050"/>
            <a:ext cx="5143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给每条地震波画小波图和时程图；把图片路径写入数据库；最后检查数据库里的路径是否真的存在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8" name="data-paper-bg">
            <a:extLst>
              <a:ext uri="{FF2B5EF4-FFF2-40B4-BE49-F238E27FC236}">
                <a16:creationId xmlns:a16="http://schemas.microsoft.com/office/drawing/2014/main" id="{9F9AFE3A-C2BD-44E0-B174-5E32E52A3072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1182350" cy="45720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data-paper-map">
            <a:extLst>
              <a:ext uri="{FF2B5EF4-FFF2-40B4-BE49-F238E27FC236}">
                <a16:creationId xmlns:a16="http://schemas.microsoft.com/office/drawing/2014/main" id="{CF18FB4F-2342-4B78-B5C0-DC9828539525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 dirty="0" err="1">
                <a:solidFill>
                  <a:srgbClr val="111111"/>
                </a:solidFill>
              </a:rPr>
              <a:t>生成的数据主要放在</a:t>
            </a:r>
            <a:r>
              <a:rPr sz="1275" b="1" dirty="0">
                <a:solidFill>
                  <a:srgbClr val="111111"/>
                </a:solidFill>
              </a:rPr>
              <a:t> </a:t>
            </a:r>
            <a:r>
              <a:rPr sz="1275" b="1" dirty="0" err="1">
                <a:solidFill>
                  <a:srgbClr val="111111"/>
                </a:solidFill>
              </a:rPr>
              <a:t>rawdata</a:t>
            </a:r>
            <a:r>
              <a:rPr sz="1275" b="1" dirty="0">
                <a:solidFill>
                  <a:srgbClr val="111111"/>
                </a:solidFill>
              </a:rPr>
              <a:t>/、</a:t>
            </a:r>
            <a:r>
              <a:rPr sz="1275" b="1" dirty="0" err="1">
                <a:solidFill>
                  <a:srgbClr val="111111"/>
                </a:solidFill>
              </a:rPr>
              <a:t>newdata</a:t>
            </a:r>
            <a:r>
              <a:rPr sz="1275" b="1" dirty="0">
                <a:solidFill>
                  <a:srgbClr val="111111"/>
                </a:solidFill>
              </a:rPr>
              <a:t>/ 和 </a:t>
            </a:r>
            <a:r>
              <a:rPr sz="1275" b="1" dirty="0" err="1">
                <a:solidFill>
                  <a:srgbClr val="111111"/>
                </a:solidFill>
              </a:rPr>
              <a:t>数据集</a:t>
            </a:r>
            <a:r>
              <a:rPr sz="1275" b="1" dirty="0">
                <a:solidFill>
                  <a:srgbClr val="111111"/>
                </a:solidFill>
              </a:rPr>
              <a:t>/；</a:t>
            </a:r>
            <a:r>
              <a:rPr sz="1275" b="1" dirty="0" err="1">
                <a:solidFill>
                  <a:srgbClr val="111111"/>
                </a:solidFill>
              </a:rPr>
              <a:t>论文第</a:t>
            </a:r>
            <a:r>
              <a:rPr sz="1275" b="1" dirty="0">
                <a:solidFill>
                  <a:srgbClr val="111111"/>
                </a:solidFill>
              </a:rPr>
              <a:t> 3 </a:t>
            </a:r>
            <a:r>
              <a:rPr sz="1275" b="1" dirty="0" err="1">
                <a:solidFill>
                  <a:srgbClr val="111111"/>
                </a:solidFill>
              </a:rPr>
              <a:t>章的数据说明主要来自这里</a:t>
            </a:r>
            <a:r>
              <a:rPr sz="1275" b="1" dirty="0">
                <a:solidFill>
                  <a:srgbClr val="111111"/>
                </a:solidFill>
              </a:rPr>
              <a:t>。</a:t>
            </a:r>
          </a:p>
        </p:txBody>
      </p:sp>
      <p:sp>
        <p:nvSpPr>
          <p:cNvPr id="20" name="footer-project-2">
            <a:extLst>
              <a:ext uri="{FF2B5EF4-FFF2-40B4-BE49-F238E27FC236}">
                <a16:creationId xmlns:a16="http://schemas.microsoft.com/office/drawing/2014/main" id="{0C1B26E2-8B54-41FC-AF7F-ABE554783A76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5080train / PROJECT STRUCTURE</a:t>
            </a:r>
          </a:p>
        </p:txBody>
      </p:sp>
      <p:sp>
        <p:nvSpPr>
          <p:cNvPr id="21" name="footer-page-2">
            <a:extLst>
              <a:ext uri="{FF2B5EF4-FFF2-40B4-BE49-F238E27FC236}">
                <a16:creationId xmlns:a16="http://schemas.microsoft.com/office/drawing/2014/main" id="{8BF84A5D-573B-4E1C-9A41-2DC780DA5F78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627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3">
            <a:extLst>
              <a:ext uri="{FF2B5EF4-FFF2-40B4-BE49-F238E27FC236}">
                <a16:creationId xmlns:a16="http://schemas.microsoft.com/office/drawing/2014/main" id="{DC232801-83BD-4435-9B64-12DC395D9BD9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B64A2B"/>
                </a:solidFill>
              </a:defRPr>
            </a:pPr>
            <a:r>
              <a:rPr sz="975" b="1">
                <a:solidFill>
                  <a:srgbClr val="B64A2B"/>
                </a:solidFill>
              </a:rPr>
              <a:t>02 / MODEL SCRIPTS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328446EB-3C5C-47C0-9961-7CFB1BC32615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lang="zh-CN" altLang="en-US" sz="2625" b="1" dirty="0">
                <a:solidFill>
                  <a:srgbClr val="111111"/>
                </a:solidFill>
              </a:rPr>
              <a:t>模型训练脚本</a:t>
            </a:r>
            <a:endParaRPr sz="2625" b="1" dirty="0">
              <a:solidFill>
                <a:srgbClr val="111111"/>
              </a:solidFill>
            </a:endParaRP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AFBFC9E2-C95C-4AFD-AC10-C9F17A56F485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model-title-0">
            <a:extLst>
              <a:ext uri="{FF2B5EF4-FFF2-40B4-BE49-F238E27FC236}">
                <a16:creationId xmlns:a16="http://schemas.microsoft.com/office/drawing/2014/main" id="{B6248F33-E0A3-4D41-A42C-D80E0B2612F1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 err="1">
                <a:solidFill>
                  <a:srgbClr val="111111"/>
                </a:solidFill>
              </a:rPr>
              <a:t>根目录公共脚本</a:t>
            </a:r>
            <a:endParaRPr sz="1575" b="1" dirty="0">
              <a:solidFill>
                <a:srgbClr val="111111"/>
              </a:solidFill>
            </a:endParaRPr>
          </a:p>
        </p:txBody>
      </p:sp>
      <p:sp>
        <p:nvSpPr>
          <p:cNvPr id="5" name="model-path-0">
            <a:extLst>
              <a:ext uri="{FF2B5EF4-FFF2-40B4-BE49-F238E27FC236}">
                <a16:creationId xmlns:a16="http://schemas.microsoft.com/office/drawing/2014/main" id="{FA2CC387-50AD-4702-9DBE-3B1A3EE90C04}"/>
              </a:ext>
            </a:extLst>
          </p:cNvPr>
          <p:cNvSpPr>
            <a:spLocks noGrp="1"/>
          </p:cNvSpPr>
          <p:nvPr/>
        </p:nvSpPr>
        <p:spPr>
          <a:xfrm>
            <a:off x="3143250" y="1571625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>
                <a:solidFill>
                  <a:srgbClr val="111111"/>
                </a:solidFill>
              </a:rPr>
              <a:t>floors_3_to_7_utils.py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>
                <a:solidFill>
                  <a:srgbClr val="111111"/>
                </a:solidFill>
              </a:rPr>
              <a:t>tabular_model_common.py · sequence_model_common.py</a:t>
            </a:r>
          </a:p>
        </p:txBody>
      </p:sp>
      <p:sp>
        <p:nvSpPr>
          <p:cNvPr id="6" name="model-body-0">
            <a:extLst>
              <a:ext uri="{FF2B5EF4-FFF2-40B4-BE49-F238E27FC236}">
                <a16:creationId xmlns:a16="http://schemas.microsoft.com/office/drawing/2014/main" id="{DF3183E6-CD5D-4E25-A671-AE7FDF30E246}"/>
              </a:ext>
            </a:extLst>
          </p:cNvPr>
          <p:cNvSpPr>
            <a:spLocks noGrp="1"/>
          </p:cNvSpPr>
          <p:nvPr/>
        </p:nvSpPr>
        <p:spPr>
          <a:xfrm>
            <a:off x="8572500" y="1543050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前者处理</a:t>
            </a:r>
            <a:r>
              <a:rPr sz="1200" b="0" dirty="0">
                <a:solidFill>
                  <a:srgbClr val="666666"/>
                </a:solidFill>
              </a:rPr>
              <a:t> 3–7 </a:t>
            </a:r>
            <a:r>
              <a:rPr sz="1200" b="0" dirty="0" err="1">
                <a:solidFill>
                  <a:srgbClr val="666666"/>
                </a:solidFill>
              </a:rPr>
              <a:t>层数据；后两者把表格模型和序列模型都会用到的数据读取、特征、指标和训练代码集中起来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7" name="model-rule-0">
            <a:extLst>
              <a:ext uri="{FF2B5EF4-FFF2-40B4-BE49-F238E27FC236}">
                <a16:creationId xmlns:a16="http://schemas.microsoft.com/office/drawing/2014/main" id="{DEE18BC3-9731-430F-8AE2-A26DA7AE450B}"/>
              </a:ext>
            </a:extLst>
          </p:cNvPr>
          <p:cNvSpPr>
            <a:spLocks noGrp="1"/>
          </p:cNvSpPr>
          <p:nvPr/>
        </p:nvSpPr>
        <p:spPr>
          <a:xfrm>
            <a:off x="514350" y="22098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model-title-1">
            <a:extLst>
              <a:ext uri="{FF2B5EF4-FFF2-40B4-BE49-F238E27FC236}">
                <a16:creationId xmlns:a16="http://schemas.microsoft.com/office/drawing/2014/main" id="{50D828F4-2680-4D8D-BBA6-A385B99E6BC7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>
                <a:solidFill>
                  <a:srgbClr val="111111"/>
                </a:solidFill>
              </a:rPr>
              <a:t>2dcnnv1/</a:t>
            </a:r>
          </a:p>
        </p:txBody>
      </p:sp>
      <p:sp>
        <p:nvSpPr>
          <p:cNvPr id="9" name="model-path-1">
            <a:extLst>
              <a:ext uri="{FF2B5EF4-FFF2-40B4-BE49-F238E27FC236}">
                <a16:creationId xmlns:a16="http://schemas.microsoft.com/office/drawing/2014/main" id="{D3836426-5E31-4AAF-B555-B5480E38570E}"/>
              </a:ext>
            </a:extLst>
          </p:cNvPr>
          <p:cNvSpPr>
            <a:spLocks noGrp="1"/>
          </p:cNvSpPr>
          <p:nvPr/>
        </p:nvSpPr>
        <p:spPr>
          <a:xfrm>
            <a:off x="3143250" y="2409825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64A2B"/>
                </a:solidFill>
              </a:defRPr>
            </a:pPr>
            <a:r>
              <a:rPr sz="1200" b="0">
                <a:solidFill>
                  <a:srgbClr val="B64A2B"/>
                </a:solidFill>
              </a:rPr>
              <a:t>2dcnnv1.py · 2dcnnv1test.py</a:t>
            </a:r>
          </a:p>
          <a:p>
            <a:pPr algn="l">
              <a:defRPr sz="1200" b="0">
                <a:solidFill>
                  <a:srgbClr val="B64A2B"/>
                </a:solidFill>
              </a:defRPr>
            </a:pPr>
            <a:r>
              <a:rPr sz="1200" b="0">
                <a:solidFill>
                  <a:srgbClr val="B64A2B"/>
                </a:solidFill>
              </a:rPr>
              <a:t>启动训练.bat · 启动测试.bat</a:t>
            </a:r>
          </a:p>
        </p:txBody>
      </p:sp>
      <p:sp>
        <p:nvSpPr>
          <p:cNvPr id="10" name="model-body-1">
            <a:extLst>
              <a:ext uri="{FF2B5EF4-FFF2-40B4-BE49-F238E27FC236}">
                <a16:creationId xmlns:a16="http://schemas.microsoft.com/office/drawing/2014/main" id="{99E579B7-62D8-4DDC-B28C-05590EC03763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训练和测试论文主模型。它同时读取小波图和结构/地震动数值特征。BAT 文件适合直接双击运行。</a:t>
            </a:r>
          </a:p>
        </p:txBody>
      </p:sp>
      <p:sp>
        <p:nvSpPr>
          <p:cNvPr id="11" name="model-rule-1">
            <a:extLst>
              <a:ext uri="{FF2B5EF4-FFF2-40B4-BE49-F238E27FC236}">
                <a16:creationId xmlns:a16="http://schemas.microsoft.com/office/drawing/2014/main" id="{A8657F5C-1154-4068-A2DE-22F73D72D374}"/>
              </a:ext>
            </a:extLst>
          </p:cNvPr>
          <p:cNvSpPr>
            <a:spLocks noGrp="1"/>
          </p:cNvSpPr>
          <p:nvPr/>
        </p:nvSpPr>
        <p:spPr>
          <a:xfrm>
            <a:off x="514350" y="30480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model-title-2">
            <a:extLst>
              <a:ext uri="{FF2B5EF4-FFF2-40B4-BE49-F238E27FC236}">
                <a16:creationId xmlns:a16="http://schemas.microsoft.com/office/drawing/2014/main" id="{D75D3A01-AE18-4E8E-B642-C903CAA80574}"/>
              </a:ext>
            </a:extLst>
          </p:cNvPr>
          <p:cNvSpPr>
            <a:spLocks noGrp="1"/>
          </p:cNvSpPr>
          <p:nvPr/>
        </p:nvSpPr>
        <p:spPr>
          <a:xfrm>
            <a:off x="514350" y="32385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lstmv1/、wavenetv1/</a:t>
            </a:r>
          </a:p>
        </p:txBody>
      </p:sp>
      <p:sp>
        <p:nvSpPr>
          <p:cNvPr id="13" name="model-path-2">
            <a:extLst>
              <a:ext uri="{FF2B5EF4-FFF2-40B4-BE49-F238E27FC236}">
                <a16:creationId xmlns:a16="http://schemas.microsoft.com/office/drawing/2014/main" id="{E21276C7-381B-4A5D-A887-5FAD72D43ADA}"/>
              </a:ext>
            </a:extLst>
          </p:cNvPr>
          <p:cNvSpPr>
            <a:spLocks noGrp="1"/>
          </p:cNvSpPr>
          <p:nvPr/>
        </p:nvSpPr>
        <p:spPr>
          <a:xfrm>
            <a:off x="3143250" y="3248025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&lt;模型名&gt;.py · &lt;模型名&gt;test.py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启动训练.bat · 启动测试.bat</a:t>
            </a:r>
          </a:p>
        </p:txBody>
      </p:sp>
      <p:sp>
        <p:nvSpPr>
          <p:cNvPr id="14" name="model-body-2">
            <a:extLst>
              <a:ext uri="{FF2B5EF4-FFF2-40B4-BE49-F238E27FC236}">
                <a16:creationId xmlns:a16="http://schemas.microsoft.com/office/drawing/2014/main" id="{0CCD3560-3FFB-41FB-B9A5-9A6C32BDE658}"/>
              </a:ext>
            </a:extLst>
          </p:cNvPr>
          <p:cNvSpPr>
            <a:spLocks noGrp="1"/>
          </p:cNvSpPr>
          <p:nvPr/>
        </p:nvSpPr>
        <p:spPr>
          <a:xfrm>
            <a:off x="8572500" y="3219450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直接用地震波时间序列训练 LSTM 或 WaveNet，作为 2D-CNN 的时序对比模型。</a:t>
            </a:r>
          </a:p>
        </p:txBody>
      </p:sp>
      <p:sp>
        <p:nvSpPr>
          <p:cNvPr id="15" name="model-rule-2">
            <a:extLst>
              <a:ext uri="{FF2B5EF4-FFF2-40B4-BE49-F238E27FC236}">
                <a16:creationId xmlns:a16="http://schemas.microsoft.com/office/drawing/2014/main" id="{DAC1B4AE-4969-4BEB-A6AC-01DC64A29502}"/>
              </a:ext>
            </a:extLst>
          </p:cNvPr>
          <p:cNvSpPr>
            <a:spLocks noGrp="1"/>
          </p:cNvSpPr>
          <p:nvPr/>
        </p:nvSpPr>
        <p:spPr>
          <a:xfrm>
            <a:off x="514350" y="38862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model-title-3">
            <a:extLst>
              <a:ext uri="{FF2B5EF4-FFF2-40B4-BE49-F238E27FC236}">
                <a16:creationId xmlns:a16="http://schemas.microsoft.com/office/drawing/2014/main" id="{42D23C9F-EBA5-4A5D-9123-C439B02999C4}"/>
              </a:ext>
            </a:extLst>
          </p:cNvPr>
          <p:cNvSpPr>
            <a:spLocks noGrp="1"/>
          </p:cNvSpPr>
          <p:nvPr/>
        </p:nvSpPr>
        <p:spPr>
          <a:xfrm>
            <a:off x="514350" y="40767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 err="1">
                <a:solidFill>
                  <a:srgbClr val="111111"/>
                </a:solidFill>
              </a:rPr>
              <a:t>其他模型目录</a:t>
            </a:r>
            <a:endParaRPr sz="1575" b="1" dirty="0">
              <a:solidFill>
                <a:srgbClr val="111111"/>
              </a:solidFill>
            </a:endParaRPr>
          </a:p>
        </p:txBody>
      </p:sp>
      <p:sp>
        <p:nvSpPr>
          <p:cNvPr id="17" name="model-path-3">
            <a:extLst>
              <a:ext uri="{FF2B5EF4-FFF2-40B4-BE49-F238E27FC236}">
                <a16:creationId xmlns:a16="http://schemas.microsoft.com/office/drawing/2014/main" id="{60E762BC-7E7A-4A04-8E0F-12D2E6CE17C1}"/>
              </a:ext>
            </a:extLst>
          </p:cNvPr>
          <p:cNvSpPr>
            <a:spLocks noGrp="1"/>
          </p:cNvSpPr>
          <p:nvPr/>
        </p:nvSpPr>
        <p:spPr>
          <a:xfrm>
            <a:off x="3143250" y="4086225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randomforestv1/ · xgboostv1/ · lightgbmv1/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catboostv1/ · mlpv1/</a:t>
            </a:r>
          </a:p>
        </p:txBody>
      </p:sp>
      <p:sp>
        <p:nvSpPr>
          <p:cNvPr id="18" name="model-body-3">
            <a:extLst>
              <a:ext uri="{FF2B5EF4-FFF2-40B4-BE49-F238E27FC236}">
                <a16:creationId xmlns:a16="http://schemas.microsoft.com/office/drawing/2014/main" id="{6285ED1E-EF72-4914-9D4D-B89CB63512C1}"/>
              </a:ext>
            </a:extLst>
          </p:cNvPr>
          <p:cNvSpPr>
            <a:spLocks noGrp="1"/>
          </p:cNvSpPr>
          <p:nvPr/>
        </p:nvSpPr>
        <p:spPr>
          <a:xfrm>
            <a:off x="8572500" y="4057650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这些目录同样是一份训练脚本、一份测试脚本和两个 BAT。区别只是使用的算法不同。</a:t>
            </a:r>
          </a:p>
        </p:txBody>
      </p:sp>
      <p:sp>
        <p:nvSpPr>
          <p:cNvPr id="19" name="model-rule-3">
            <a:extLst>
              <a:ext uri="{FF2B5EF4-FFF2-40B4-BE49-F238E27FC236}">
                <a16:creationId xmlns:a16="http://schemas.microsoft.com/office/drawing/2014/main" id="{7103B2F7-6B03-4FF9-A3BD-A753D010ED99}"/>
              </a:ext>
            </a:extLst>
          </p:cNvPr>
          <p:cNvSpPr>
            <a:spLocks noGrp="1"/>
          </p:cNvSpPr>
          <p:nvPr/>
        </p:nvSpPr>
        <p:spPr>
          <a:xfrm>
            <a:off x="514350" y="47244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model-title-4">
            <a:extLst>
              <a:ext uri="{FF2B5EF4-FFF2-40B4-BE49-F238E27FC236}">
                <a16:creationId xmlns:a16="http://schemas.microsoft.com/office/drawing/2014/main" id="{FE09A8E3-9366-4915-A71B-034378DC2CBD}"/>
              </a:ext>
            </a:extLst>
          </p:cNvPr>
          <p:cNvSpPr>
            <a:spLocks noGrp="1"/>
          </p:cNvSpPr>
          <p:nvPr/>
        </p:nvSpPr>
        <p:spPr>
          <a:xfrm>
            <a:off x="514350" y="49149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111111"/>
                </a:solidFill>
              </a:defRPr>
            </a:pPr>
            <a:r>
              <a:rPr sz="1575" b="1" dirty="0" err="1">
                <a:solidFill>
                  <a:srgbClr val="111111"/>
                </a:solidFill>
              </a:rPr>
              <a:t>结果放在哪里</a:t>
            </a:r>
            <a:endParaRPr sz="1575" b="1" dirty="0">
              <a:solidFill>
                <a:srgbClr val="111111"/>
              </a:solidFill>
            </a:endParaRPr>
          </a:p>
        </p:txBody>
      </p:sp>
      <p:sp>
        <p:nvSpPr>
          <p:cNvPr id="21" name="model-path-4">
            <a:extLst>
              <a:ext uri="{FF2B5EF4-FFF2-40B4-BE49-F238E27FC236}">
                <a16:creationId xmlns:a16="http://schemas.microsoft.com/office/drawing/2014/main" id="{18BFF676-B5F3-4FFA-AF25-512AAB7BFA5B}"/>
              </a:ext>
            </a:extLst>
          </p:cNvPr>
          <p:cNvSpPr>
            <a:spLocks noGrp="1"/>
          </p:cNvSpPr>
          <p:nvPr/>
        </p:nvSpPr>
        <p:spPr>
          <a:xfrm>
            <a:off x="3143250" y="4924425"/>
            <a:ext cx="5286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>
                <a:solidFill>
                  <a:srgbClr val="111111"/>
                </a:solidFill>
              </a:rPr>
              <a:t>output/&lt;</a:t>
            </a:r>
            <a:r>
              <a:rPr sz="1200" b="0" dirty="0" err="1">
                <a:solidFill>
                  <a:srgbClr val="111111"/>
                </a:solidFill>
              </a:rPr>
              <a:t>模型名</a:t>
            </a:r>
            <a:r>
              <a:rPr sz="1200" b="0" dirty="0">
                <a:solidFill>
                  <a:srgbClr val="111111"/>
                </a:solidFill>
              </a:rPr>
              <a:t>&gt;/ · output/</a:t>
            </a:r>
            <a:r>
              <a:rPr sz="1200" b="0" dirty="0" err="1">
                <a:solidFill>
                  <a:srgbClr val="111111"/>
                </a:solidFill>
              </a:rPr>
              <a:t>归档</a:t>
            </a:r>
            <a:r>
              <a:rPr sz="1200" b="0" dirty="0">
                <a:solidFill>
                  <a:srgbClr val="111111"/>
                </a:solidFill>
              </a:rPr>
              <a:t>/</a:t>
            </a:r>
          </a:p>
        </p:txBody>
      </p:sp>
      <p:sp>
        <p:nvSpPr>
          <p:cNvPr id="22" name="model-body-4">
            <a:extLst>
              <a:ext uri="{FF2B5EF4-FFF2-40B4-BE49-F238E27FC236}">
                <a16:creationId xmlns:a16="http://schemas.microsoft.com/office/drawing/2014/main" id="{5210F000-EEC4-429B-B37E-CAB4C4CF57FA}"/>
              </a:ext>
            </a:extLst>
          </p:cNvPr>
          <p:cNvSpPr>
            <a:spLocks noGrp="1"/>
          </p:cNvSpPr>
          <p:nvPr/>
        </p:nvSpPr>
        <p:spPr>
          <a:xfrm>
            <a:off x="8572500" y="4895850"/>
            <a:ext cx="300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训练后的模型、日志、预测</a:t>
            </a:r>
            <a:r>
              <a:rPr sz="1200" b="0" dirty="0">
                <a:solidFill>
                  <a:srgbClr val="666666"/>
                </a:solidFill>
              </a:rPr>
              <a:t> CSV </a:t>
            </a:r>
            <a:r>
              <a:rPr sz="1200" b="0" dirty="0" err="1">
                <a:solidFill>
                  <a:srgbClr val="666666"/>
                </a:solidFill>
              </a:rPr>
              <a:t>和结果图按模型保存。归档目录放旧版本，正式比较时不要和当前结果混用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23" name="model-paper-bg">
            <a:extLst>
              <a:ext uri="{FF2B5EF4-FFF2-40B4-BE49-F238E27FC236}">
                <a16:creationId xmlns:a16="http://schemas.microsoft.com/office/drawing/2014/main" id="{8914365E-BA2F-430B-9DDA-942431E7542A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11182350" cy="45720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model-paper-map">
            <a:extLst>
              <a:ext uri="{FF2B5EF4-FFF2-40B4-BE49-F238E27FC236}">
                <a16:creationId xmlns:a16="http://schemas.microsoft.com/office/drawing/2014/main" id="{6F8D8901-BCE5-4CE4-91BE-0906FC7897CA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lang="zh-CN" altLang="en-US" sz="1275" b="1" dirty="0">
                <a:solidFill>
                  <a:srgbClr val="111111"/>
                </a:solidFill>
              </a:rPr>
              <a:t>简单记法：不带 </a:t>
            </a:r>
            <a:r>
              <a:rPr lang="en-US" altLang="zh-CN" sz="1275" b="1" dirty="0">
                <a:solidFill>
                  <a:srgbClr val="111111"/>
                </a:solidFill>
              </a:rPr>
              <a:t>test </a:t>
            </a:r>
            <a:r>
              <a:rPr lang="zh-CN" altLang="en-US" sz="1275" b="1" dirty="0">
                <a:solidFill>
                  <a:srgbClr val="111111"/>
                </a:solidFill>
              </a:rPr>
              <a:t>的脚本负责训练，带 </a:t>
            </a:r>
            <a:r>
              <a:rPr lang="en-US" altLang="zh-CN" sz="1275" b="1" dirty="0">
                <a:solidFill>
                  <a:srgbClr val="111111"/>
                </a:solidFill>
              </a:rPr>
              <a:t>test </a:t>
            </a:r>
            <a:r>
              <a:rPr lang="zh-CN" altLang="en-US" sz="1275" b="1" dirty="0">
                <a:solidFill>
                  <a:srgbClr val="111111"/>
                </a:solidFill>
              </a:rPr>
              <a:t>的脚本负责测试，</a:t>
            </a:r>
            <a:r>
              <a:rPr lang="en-US" altLang="zh-CN" sz="1275" b="1" dirty="0">
                <a:solidFill>
                  <a:srgbClr val="111111"/>
                </a:solidFill>
              </a:rPr>
              <a:t>BAT</a:t>
            </a:r>
            <a:r>
              <a:rPr lang="zh-CN" altLang="en-US" sz="1275" b="1" dirty="0">
                <a:solidFill>
                  <a:srgbClr val="111111"/>
                </a:solidFill>
              </a:rPr>
              <a:t> 只是帮你启动对应的 </a:t>
            </a:r>
            <a:r>
              <a:rPr lang="en-US" altLang="zh-CN" sz="1275" b="1" dirty="0">
                <a:solidFill>
                  <a:srgbClr val="111111"/>
                </a:solidFill>
              </a:rPr>
              <a:t>Python </a:t>
            </a:r>
            <a:r>
              <a:rPr lang="zh-CN" altLang="en-US" sz="1275" b="1" dirty="0">
                <a:solidFill>
                  <a:srgbClr val="111111"/>
                </a:solidFill>
              </a:rPr>
              <a:t>脚本。</a:t>
            </a:r>
          </a:p>
        </p:txBody>
      </p:sp>
      <p:sp>
        <p:nvSpPr>
          <p:cNvPr id="25" name="footer-project-3">
            <a:extLst>
              <a:ext uri="{FF2B5EF4-FFF2-40B4-BE49-F238E27FC236}">
                <a16:creationId xmlns:a16="http://schemas.microsoft.com/office/drawing/2014/main" id="{301B3462-7B6F-4986-9645-CE34405EC187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5080train / PROJECT STRUCTURE</a:t>
            </a:r>
          </a:p>
        </p:txBody>
      </p:sp>
      <p:sp>
        <p:nvSpPr>
          <p:cNvPr id="26" name="footer-page-3">
            <a:extLst>
              <a:ext uri="{FF2B5EF4-FFF2-40B4-BE49-F238E27FC236}">
                <a16:creationId xmlns:a16="http://schemas.microsoft.com/office/drawing/2014/main" id="{6FCD0C63-F22F-461F-851F-F70B489227B2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361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ection-4">
            <a:extLst>
              <a:ext uri="{FF2B5EF4-FFF2-40B4-BE49-F238E27FC236}">
                <a16:creationId xmlns:a16="http://schemas.microsoft.com/office/drawing/2014/main" id="{AEE9ABA6-8164-4BEB-9425-4434A8FCCC4F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B64A2B"/>
                </a:solidFill>
              </a:defRPr>
            </a:pPr>
            <a:r>
              <a:rPr sz="975" b="1">
                <a:solidFill>
                  <a:srgbClr val="B64A2B"/>
                </a:solidFill>
              </a:rPr>
              <a:t>03 / UPDATE SCRIPTS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8839D9E1-6BEA-49D6-8DA4-0DED86C9605C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sz="2625" b="1" dirty="0" err="1">
                <a:solidFill>
                  <a:srgbClr val="111111"/>
                </a:solidFill>
              </a:rPr>
              <a:t>批量实验：update</a:t>
            </a:r>
            <a:r>
              <a:rPr sz="2625" b="1" dirty="0">
                <a:solidFill>
                  <a:srgbClr val="111111"/>
                </a:solidFill>
              </a:rPr>
              <a:t>/ </a:t>
            </a:r>
            <a:r>
              <a:rPr sz="2625" b="1" dirty="0" err="1">
                <a:solidFill>
                  <a:srgbClr val="111111"/>
                </a:solidFill>
              </a:rPr>
              <a:t>目录负责把实验统一跑起来</a:t>
            </a:r>
            <a:endParaRPr sz="2625" b="1" dirty="0">
              <a:solidFill>
                <a:srgbClr val="111111"/>
              </a:solidFill>
            </a:endParaRP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BF33E4AC-1F5F-4A50-8723-E8801BF3D1F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eval-left-head">
            <a:extLst>
              <a:ext uri="{FF2B5EF4-FFF2-40B4-BE49-F238E27FC236}">
                <a16:creationId xmlns:a16="http://schemas.microsoft.com/office/drawing/2014/main" id="{A8386EF6-5A6A-4B0A-A747-380EDE10B7D6}"/>
              </a:ext>
            </a:extLst>
          </p:cNvPr>
          <p:cNvSpPr>
            <a:spLocks noGrp="1"/>
          </p:cNvSpPr>
          <p:nvPr/>
        </p:nvSpPr>
        <p:spPr>
          <a:xfrm>
            <a:off x="514350" y="1676400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调参和最终测试</a:t>
            </a:r>
          </a:p>
        </p:txBody>
      </p:sp>
      <p:sp>
        <p:nvSpPr>
          <p:cNvPr id="5" name="eval-left-path">
            <a:extLst>
              <a:ext uri="{FF2B5EF4-FFF2-40B4-BE49-F238E27FC236}">
                <a16:creationId xmlns:a16="http://schemas.microsoft.com/office/drawing/2014/main" id="{795D9209-F0C5-49EB-849A-EB05A10A851C}"/>
              </a:ext>
            </a:extLst>
          </p:cNvPr>
          <p:cNvSpPr>
            <a:spLocks noGrp="1"/>
          </p:cNvSpPr>
          <p:nvPr/>
        </p:nvSpPr>
        <p:spPr>
          <a:xfrm>
            <a:off x="514350" y="21336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64A2B"/>
                </a:solidFill>
              </a:defRPr>
            </a:pPr>
            <a:r>
              <a:rPr sz="1200" b="0">
                <a:solidFill>
                  <a:srgbClr val="B64A2B"/>
                </a:solidFill>
              </a:rPr>
              <a:t>最常用的脚本</a:t>
            </a:r>
          </a:p>
        </p:txBody>
      </p:sp>
      <p:sp>
        <p:nvSpPr>
          <p:cNvPr id="6" name="control-title-0">
            <a:extLst>
              <a:ext uri="{FF2B5EF4-FFF2-40B4-BE49-F238E27FC236}">
                <a16:creationId xmlns:a16="http://schemas.microsoft.com/office/drawing/2014/main" id="{ACE07177-CD80-4639-8E80-4406B8012C1F}"/>
              </a:ext>
            </a:extLst>
          </p:cNvPr>
          <p:cNvSpPr>
            <a:spLocks noGrp="1"/>
          </p:cNvSpPr>
          <p:nvPr/>
        </p:nvSpPr>
        <p:spPr>
          <a:xfrm>
            <a:off x="514350" y="261937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 dirty="0" err="1">
                <a:solidFill>
                  <a:srgbClr val="111111"/>
                </a:solidFill>
              </a:rPr>
              <a:t>各算法</a:t>
            </a:r>
            <a:r>
              <a:rPr lang="zh-CN" altLang="en-US" sz="1275" b="1" dirty="0">
                <a:solidFill>
                  <a:srgbClr val="111111"/>
                </a:solidFill>
              </a:rPr>
              <a:t>调优</a:t>
            </a:r>
            <a:r>
              <a:rPr sz="1275" b="1" dirty="0">
                <a:solidFill>
                  <a:srgbClr val="111111"/>
                </a:solidFill>
              </a:rPr>
              <a:t>/tune_optuna_tpe.py</a:t>
            </a:r>
          </a:p>
        </p:txBody>
      </p:sp>
      <p:sp>
        <p:nvSpPr>
          <p:cNvPr id="7" name="control-body-0">
            <a:extLst>
              <a:ext uri="{FF2B5EF4-FFF2-40B4-BE49-F238E27FC236}">
                <a16:creationId xmlns:a16="http://schemas.microsoft.com/office/drawing/2014/main" id="{825B00B6-2008-4804-8D9E-1BB906419E32}"/>
              </a:ext>
            </a:extLst>
          </p:cNvPr>
          <p:cNvSpPr>
            <a:spLocks noGrp="1"/>
          </p:cNvSpPr>
          <p:nvPr/>
        </p:nvSpPr>
        <p:spPr>
          <a:xfrm>
            <a:off x="2914650" y="2600325"/>
            <a:ext cx="213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给对应模型自动试参数；best_params.json 保存找到的最好参数。</a:t>
            </a:r>
          </a:p>
        </p:txBody>
      </p:sp>
      <p:sp>
        <p:nvSpPr>
          <p:cNvPr id="8" name="control-rule-0">
            <a:extLst>
              <a:ext uri="{FF2B5EF4-FFF2-40B4-BE49-F238E27FC236}">
                <a16:creationId xmlns:a16="http://schemas.microsoft.com/office/drawing/2014/main" id="{AC604D18-DECE-450B-8777-49169D788871}"/>
              </a:ext>
            </a:extLst>
          </p:cNvPr>
          <p:cNvSpPr>
            <a:spLocks noGrp="1"/>
          </p:cNvSpPr>
          <p:nvPr/>
        </p:nvSpPr>
        <p:spPr>
          <a:xfrm>
            <a:off x="514350" y="3209925"/>
            <a:ext cx="45339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ontrol-title-1">
            <a:extLst>
              <a:ext uri="{FF2B5EF4-FFF2-40B4-BE49-F238E27FC236}">
                <a16:creationId xmlns:a16="http://schemas.microsoft.com/office/drawing/2014/main" id="{95FD5D23-31D9-4936-94CC-05A1793AC311}"/>
              </a:ext>
            </a:extLst>
          </p:cNvPr>
          <p:cNvSpPr>
            <a:spLocks noGrp="1"/>
          </p:cNvSpPr>
          <p:nvPr/>
        </p:nvSpPr>
        <p:spPr>
          <a:xfrm>
            <a:off x="514350" y="336232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sz="1275" b="1" dirty="0">
                <a:solidFill>
                  <a:srgbClr val="111111"/>
                </a:solidFill>
              </a:rPr>
              <a:t>run_publication_hpo.py</a:t>
            </a:r>
          </a:p>
        </p:txBody>
      </p:sp>
      <p:sp>
        <p:nvSpPr>
          <p:cNvPr id="10" name="control-body-1">
            <a:extLst>
              <a:ext uri="{FF2B5EF4-FFF2-40B4-BE49-F238E27FC236}">
                <a16:creationId xmlns:a16="http://schemas.microsoft.com/office/drawing/2014/main" id="{19349BA9-9946-4802-A972-13AAE807E623}"/>
              </a:ext>
            </a:extLst>
          </p:cNvPr>
          <p:cNvSpPr>
            <a:spLocks noGrp="1"/>
          </p:cNvSpPr>
          <p:nvPr/>
        </p:nvSpPr>
        <p:spPr>
          <a:xfrm>
            <a:off x="2914650" y="3343275"/>
            <a:ext cx="213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一次安排多个模型做正式调参，避免每个模型手工启动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control-rule-1">
            <a:extLst>
              <a:ext uri="{FF2B5EF4-FFF2-40B4-BE49-F238E27FC236}">
                <a16:creationId xmlns:a16="http://schemas.microsoft.com/office/drawing/2014/main" id="{806CA76F-E96B-44F1-B2E8-1A8B982D799E}"/>
              </a:ext>
            </a:extLst>
          </p:cNvPr>
          <p:cNvSpPr>
            <a:spLocks noGrp="1"/>
          </p:cNvSpPr>
          <p:nvPr/>
        </p:nvSpPr>
        <p:spPr>
          <a:xfrm>
            <a:off x="514350" y="3952875"/>
            <a:ext cx="45339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control-title-2">
            <a:extLst>
              <a:ext uri="{FF2B5EF4-FFF2-40B4-BE49-F238E27FC236}">
                <a16:creationId xmlns:a16="http://schemas.microsoft.com/office/drawing/2014/main" id="{77B61C36-7DA0-42BF-AC14-88E93AA3C605}"/>
              </a:ext>
            </a:extLst>
          </p:cNvPr>
          <p:cNvSpPr>
            <a:spLocks noGrp="1"/>
          </p:cNvSpPr>
          <p:nvPr/>
        </p:nvSpPr>
        <p:spPr>
          <a:xfrm>
            <a:off x="514350" y="410527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lang="zh-CN" altLang="en-US" sz="1275" b="1" dirty="0">
                <a:solidFill>
                  <a:srgbClr val="111111"/>
                </a:solidFill>
              </a:rPr>
              <a:t>重复训练</a:t>
            </a:r>
            <a:br>
              <a:rPr lang="en-US" sz="1275" b="1" dirty="0">
                <a:solidFill>
                  <a:srgbClr val="111111"/>
                </a:solidFill>
              </a:rPr>
            </a:br>
            <a:r>
              <a:rPr sz="1275" b="1" dirty="0">
                <a:solidFill>
                  <a:srgbClr val="111111"/>
                </a:solidFill>
              </a:rPr>
              <a:t>run_final_*multiseed_eval.py</a:t>
            </a:r>
          </a:p>
        </p:txBody>
      </p:sp>
      <p:sp>
        <p:nvSpPr>
          <p:cNvPr id="13" name="control-body-2">
            <a:extLst>
              <a:ext uri="{FF2B5EF4-FFF2-40B4-BE49-F238E27FC236}">
                <a16:creationId xmlns:a16="http://schemas.microsoft.com/office/drawing/2014/main" id="{D0BE424E-5F5E-4B4D-BB30-A61BE3385EFA}"/>
              </a:ext>
            </a:extLst>
          </p:cNvPr>
          <p:cNvSpPr>
            <a:spLocks noGrp="1"/>
          </p:cNvSpPr>
          <p:nvPr/>
        </p:nvSpPr>
        <p:spPr>
          <a:xfrm>
            <a:off x="2914650" y="4086225"/>
            <a:ext cx="213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用固定参数重复训练多个随机种子，检查结果是否稳定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4" name="control-rule-2">
            <a:extLst>
              <a:ext uri="{FF2B5EF4-FFF2-40B4-BE49-F238E27FC236}">
                <a16:creationId xmlns:a16="http://schemas.microsoft.com/office/drawing/2014/main" id="{3606905D-DB06-4EA4-9B7A-B43954602322}"/>
              </a:ext>
            </a:extLst>
          </p:cNvPr>
          <p:cNvSpPr>
            <a:spLocks noGrp="1"/>
          </p:cNvSpPr>
          <p:nvPr/>
        </p:nvSpPr>
        <p:spPr>
          <a:xfrm>
            <a:off x="514350" y="4695825"/>
            <a:ext cx="45339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control-title-3">
            <a:extLst>
              <a:ext uri="{FF2B5EF4-FFF2-40B4-BE49-F238E27FC236}">
                <a16:creationId xmlns:a16="http://schemas.microsoft.com/office/drawing/2014/main" id="{96E7D220-CE2E-42F4-96BB-5D52D2D2811A}"/>
              </a:ext>
            </a:extLst>
          </p:cNvPr>
          <p:cNvSpPr>
            <a:spLocks noGrp="1"/>
          </p:cNvSpPr>
          <p:nvPr/>
        </p:nvSpPr>
        <p:spPr>
          <a:xfrm>
            <a:off x="514350" y="4848225"/>
            <a:ext cx="2333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111111"/>
                </a:solidFill>
              </a:defRPr>
            </a:pPr>
            <a:r>
              <a:rPr lang="zh-CN" altLang="en-US" sz="1275" b="1" dirty="0">
                <a:solidFill>
                  <a:srgbClr val="111111"/>
                </a:solidFill>
              </a:rPr>
              <a:t>训练</a:t>
            </a:r>
            <a:r>
              <a:rPr lang="en-US" altLang="zh-CN" sz="1275" b="1" dirty="0">
                <a:solidFill>
                  <a:srgbClr val="111111"/>
                </a:solidFill>
              </a:rPr>
              <a:t>\</a:t>
            </a:r>
            <a:r>
              <a:rPr lang="zh-CN" altLang="en-US" sz="1275" b="1" dirty="0">
                <a:solidFill>
                  <a:srgbClr val="111111"/>
                </a:solidFill>
              </a:rPr>
              <a:t>验证</a:t>
            </a:r>
            <a:r>
              <a:rPr lang="en-US" altLang="zh-CN" sz="1275" b="1" dirty="0">
                <a:solidFill>
                  <a:srgbClr val="111111"/>
                </a:solidFill>
              </a:rPr>
              <a:t>\</a:t>
            </a:r>
            <a:r>
              <a:rPr lang="zh-CN" altLang="en-US" sz="1275" b="1" dirty="0">
                <a:solidFill>
                  <a:srgbClr val="111111"/>
                </a:solidFill>
              </a:rPr>
              <a:t>测试划分锁定</a:t>
            </a:r>
            <a:br>
              <a:rPr lang="en-US" sz="1275" b="1" dirty="0">
                <a:solidFill>
                  <a:srgbClr val="111111"/>
                </a:solidFill>
              </a:rPr>
            </a:br>
            <a:r>
              <a:rPr sz="1275" b="1" dirty="0">
                <a:solidFill>
                  <a:srgbClr val="111111"/>
                </a:solidFill>
              </a:rPr>
              <a:t>lock_publication_protocol.py</a:t>
            </a:r>
          </a:p>
        </p:txBody>
      </p:sp>
      <p:sp>
        <p:nvSpPr>
          <p:cNvPr id="16" name="control-body-3">
            <a:extLst>
              <a:ext uri="{FF2B5EF4-FFF2-40B4-BE49-F238E27FC236}">
                <a16:creationId xmlns:a16="http://schemas.microsoft.com/office/drawing/2014/main" id="{F51EDE20-B14D-4693-8066-4B44A7C78A84}"/>
              </a:ext>
            </a:extLst>
          </p:cNvPr>
          <p:cNvSpPr>
            <a:spLocks noGrp="1"/>
          </p:cNvSpPr>
          <p:nvPr/>
        </p:nvSpPr>
        <p:spPr>
          <a:xfrm>
            <a:off x="2914650" y="4829175"/>
            <a:ext cx="2133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把数据划分、随机种子和评价规则锁定，防止后面随意改口径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7" name="eval-divider">
            <a:extLst>
              <a:ext uri="{FF2B5EF4-FFF2-40B4-BE49-F238E27FC236}">
                <a16:creationId xmlns:a16="http://schemas.microsoft.com/office/drawing/2014/main" id="{3C5626F4-2F1E-4968-B78D-3CEA170C1CF7}"/>
              </a:ext>
            </a:extLst>
          </p:cNvPr>
          <p:cNvSpPr>
            <a:spLocks noGrp="1"/>
          </p:cNvSpPr>
          <p:nvPr/>
        </p:nvSpPr>
        <p:spPr>
          <a:xfrm>
            <a:off x="5486400" y="1676400"/>
            <a:ext cx="9525" cy="4191000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eval-right-head">
            <a:extLst>
              <a:ext uri="{FF2B5EF4-FFF2-40B4-BE49-F238E27FC236}">
                <a16:creationId xmlns:a16="http://schemas.microsoft.com/office/drawing/2014/main" id="{6A86A441-7AE2-4060-A7A3-66AB3B6A80C1}"/>
              </a:ext>
            </a:extLst>
          </p:cNvPr>
          <p:cNvSpPr>
            <a:spLocks noGrp="1"/>
          </p:cNvSpPr>
          <p:nvPr/>
        </p:nvSpPr>
        <p:spPr>
          <a:xfrm>
            <a:off x="5962650" y="1676400"/>
            <a:ext cx="5467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分析和论文材料</a:t>
            </a:r>
          </a:p>
        </p:txBody>
      </p:sp>
      <p:sp>
        <p:nvSpPr>
          <p:cNvPr id="19" name="eval-right-path">
            <a:extLst>
              <a:ext uri="{FF2B5EF4-FFF2-40B4-BE49-F238E27FC236}">
                <a16:creationId xmlns:a16="http://schemas.microsoft.com/office/drawing/2014/main" id="{60102A61-67CE-45F3-A102-AC652DADCC26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546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B64A2B"/>
                </a:solidFill>
              </a:defRPr>
            </a:pPr>
            <a:r>
              <a:rPr sz="1200" b="0">
                <a:solidFill>
                  <a:srgbClr val="B64A2B"/>
                </a:solidFill>
              </a:rPr>
              <a:t>跑完模型之后使用</a:t>
            </a:r>
          </a:p>
        </p:txBody>
      </p:sp>
      <p:sp>
        <p:nvSpPr>
          <p:cNvPr id="20" name="evidence-path-0">
            <a:extLst>
              <a:ext uri="{FF2B5EF4-FFF2-40B4-BE49-F238E27FC236}">
                <a16:creationId xmlns:a16="http://schemas.microsoft.com/office/drawing/2014/main" id="{B2D6C721-C161-4A7E-964B-79DE047428A7}"/>
              </a:ext>
            </a:extLst>
          </p:cNvPr>
          <p:cNvSpPr>
            <a:spLocks noGrp="1"/>
          </p:cNvSpPr>
          <p:nvPr/>
        </p:nvSpPr>
        <p:spPr>
          <a:xfrm>
            <a:off x="5962650" y="25908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run_ablation_suite.py</a:t>
            </a:r>
          </a:p>
        </p:txBody>
      </p:sp>
      <p:sp>
        <p:nvSpPr>
          <p:cNvPr id="21" name="evidence-label-0">
            <a:extLst>
              <a:ext uri="{FF2B5EF4-FFF2-40B4-BE49-F238E27FC236}">
                <a16:creationId xmlns:a16="http://schemas.microsoft.com/office/drawing/2014/main" id="{577AB68F-94F7-4891-B1CE-C5B405A8EF43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2533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把 2D-CNN 的不同输入删掉重跑，看小波图和数值特征分别有多大作用。</a:t>
            </a:r>
          </a:p>
        </p:txBody>
      </p:sp>
      <p:sp>
        <p:nvSpPr>
          <p:cNvPr id="22" name="evidence-path-1">
            <a:extLst>
              <a:ext uri="{FF2B5EF4-FFF2-40B4-BE49-F238E27FC236}">
                <a16:creationId xmlns:a16="http://schemas.microsoft.com/office/drawing/2014/main" id="{0CC96BDA-23D1-4A59-B714-29133AEC6DA6}"/>
              </a:ext>
            </a:extLst>
          </p:cNvPr>
          <p:cNvSpPr>
            <a:spLocks noGrp="1"/>
          </p:cNvSpPr>
          <p:nvPr/>
        </p:nvSpPr>
        <p:spPr>
          <a:xfrm>
            <a:off x="5962650" y="31908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compare_models_statistics.py</a:t>
            </a:r>
          </a:p>
        </p:txBody>
      </p:sp>
      <p:sp>
        <p:nvSpPr>
          <p:cNvPr id="23" name="evidence-label-1">
            <a:extLst>
              <a:ext uri="{FF2B5EF4-FFF2-40B4-BE49-F238E27FC236}">
                <a16:creationId xmlns:a16="http://schemas.microsoft.com/office/drawing/2014/main" id="{22F504D9-09BD-4705-A67A-0688F78DB0C7}"/>
              </a:ext>
            </a:extLst>
          </p:cNvPr>
          <p:cNvSpPr>
            <a:spLocks noGrp="1"/>
          </p:cNvSpPr>
          <p:nvPr/>
        </p:nvSpPr>
        <p:spPr>
          <a:xfrm>
            <a:off x="8896350" y="3171825"/>
            <a:ext cx="2533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比较各模型差异是否稳定，而不是只看一次测试分数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24" name="evidence-path-2">
            <a:extLst>
              <a:ext uri="{FF2B5EF4-FFF2-40B4-BE49-F238E27FC236}">
                <a16:creationId xmlns:a16="http://schemas.microsoft.com/office/drawing/2014/main" id="{51BFF8CB-0E6F-4DF7-8C66-D8201997E90A}"/>
              </a:ext>
            </a:extLst>
          </p:cNvPr>
          <p:cNvSpPr>
            <a:spLocks noGrp="1"/>
          </p:cNvSpPr>
          <p:nvPr/>
        </p:nvSpPr>
        <p:spPr>
          <a:xfrm>
            <a:off x="5962650" y="37909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make_paper_tables.py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make_paper_figures.py</a:t>
            </a:r>
          </a:p>
        </p:txBody>
      </p:sp>
      <p:sp>
        <p:nvSpPr>
          <p:cNvPr id="25" name="evidence-label-2">
            <a:extLst>
              <a:ext uri="{FF2B5EF4-FFF2-40B4-BE49-F238E27FC236}">
                <a16:creationId xmlns:a16="http://schemas.microsoft.com/office/drawing/2014/main" id="{A9646F52-6098-4586-ACEC-A7C1FF456EB0}"/>
              </a:ext>
            </a:extLst>
          </p:cNvPr>
          <p:cNvSpPr>
            <a:spLocks noGrp="1"/>
          </p:cNvSpPr>
          <p:nvPr/>
        </p:nvSpPr>
        <p:spPr>
          <a:xfrm>
            <a:off x="8896350" y="3771900"/>
            <a:ext cx="2533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把结果</a:t>
            </a:r>
            <a:r>
              <a:rPr sz="1200" b="0" dirty="0">
                <a:solidFill>
                  <a:srgbClr val="666666"/>
                </a:solidFill>
              </a:rPr>
              <a:t> CSV </a:t>
            </a:r>
            <a:r>
              <a:rPr sz="1200" b="0" dirty="0" err="1">
                <a:solidFill>
                  <a:srgbClr val="666666"/>
                </a:solidFill>
              </a:rPr>
              <a:t>整理成论文可以直接使用的表格和图片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26" name="evidence-path-3">
            <a:extLst>
              <a:ext uri="{FF2B5EF4-FFF2-40B4-BE49-F238E27FC236}">
                <a16:creationId xmlns:a16="http://schemas.microsoft.com/office/drawing/2014/main" id="{BDD01D11-33D4-4379-B0AD-E72A9FBAA31A}"/>
              </a:ext>
            </a:extLst>
          </p:cNvPr>
          <p:cNvSpPr>
            <a:spLocks noGrp="1"/>
          </p:cNvSpPr>
          <p:nvPr/>
        </p:nvSpPr>
        <p:spPr>
          <a:xfrm>
            <a:off x="5962650" y="43910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complete_todo10_ood_benchmark.py</a:t>
            </a:r>
          </a:p>
        </p:txBody>
      </p:sp>
      <p:sp>
        <p:nvSpPr>
          <p:cNvPr id="27" name="evidence-label-3">
            <a:extLst>
              <a:ext uri="{FF2B5EF4-FFF2-40B4-BE49-F238E27FC236}">
                <a16:creationId xmlns:a16="http://schemas.microsoft.com/office/drawing/2014/main" id="{66E16F6E-D8A7-4BBF-8BB3-C1C6675A17A3}"/>
              </a:ext>
            </a:extLst>
          </p:cNvPr>
          <p:cNvSpPr>
            <a:spLocks noGrp="1"/>
          </p:cNvSpPr>
          <p:nvPr/>
        </p:nvSpPr>
        <p:spPr>
          <a:xfrm>
            <a:off x="8896350" y="4371975"/>
            <a:ext cx="2533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检查模型遇到没见过的地震波、结构或高漂移样本时表现怎样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28" name="evidence-path-4">
            <a:extLst>
              <a:ext uri="{FF2B5EF4-FFF2-40B4-BE49-F238E27FC236}">
                <a16:creationId xmlns:a16="http://schemas.microsoft.com/office/drawing/2014/main" id="{1A8CF7D6-1B44-4E9E-B879-EBCFE088A204}"/>
              </a:ext>
            </a:extLst>
          </p:cNvPr>
          <p:cNvSpPr>
            <a:spLocks noGrp="1"/>
          </p:cNvSpPr>
          <p:nvPr/>
        </p:nvSpPr>
        <p:spPr>
          <a:xfrm>
            <a:off x="5962650" y="49911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>
                <a:solidFill>
                  <a:srgbClr val="111111"/>
                </a:solidFill>
              </a:rPr>
              <a:t>complete_todo11_uncertainty.py</a:t>
            </a:r>
          </a:p>
        </p:txBody>
      </p:sp>
      <p:sp>
        <p:nvSpPr>
          <p:cNvPr id="29" name="evidence-label-4">
            <a:extLst>
              <a:ext uri="{FF2B5EF4-FFF2-40B4-BE49-F238E27FC236}">
                <a16:creationId xmlns:a16="http://schemas.microsoft.com/office/drawing/2014/main" id="{D0C1AF47-4C11-4405-BD9D-4ED015B6D520}"/>
              </a:ext>
            </a:extLst>
          </p:cNvPr>
          <p:cNvSpPr>
            <a:spLocks noGrp="1"/>
          </p:cNvSpPr>
          <p:nvPr/>
        </p:nvSpPr>
        <p:spPr>
          <a:xfrm>
            <a:off x="8896350" y="4972050"/>
            <a:ext cx="25336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计算预测区间和校准结果，判断模型有多大把握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30" name="eval-summary-bg">
            <a:extLst>
              <a:ext uri="{FF2B5EF4-FFF2-40B4-BE49-F238E27FC236}">
                <a16:creationId xmlns:a16="http://schemas.microsoft.com/office/drawing/2014/main" id="{EE3BC978-64C3-429E-A4BC-0BE6472F77A1}"/>
              </a:ext>
            </a:extLst>
          </p:cNvPr>
          <p:cNvSpPr>
            <a:spLocks noGrp="1"/>
          </p:cNvSpPr>
          <p:nvPr/>
        </p:nvSpPr>
        <p:spPr>
          <a:xfrm>
            <a:off x="5962650" y="5638800"/>
            <a:ext cx="5467350" cy="476250"/>
          </a:xfrm>
          <a:prstGeom prst="rect">
            <a:avLst/>
          </a:prstGeom>
          <a:solidFill>
            <a:srgbClr val="F3F3F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eval-summary">
            <a:extLst>
              <a:ext uri="{FF2B5EF4-FFF2-40B4-BE49-F238E27FC236}">
                <a16:creationId xmlns:a16="http://schemas.microsoft.com/office/drawing/2014/main" id="{3071BF36-297D-4BFF-B4C9-FC7C24A01B97}"/>
              </a:ext>
            </a:extLst>
          </p:cNvPr>
          <p:cNvSpPr>
            <a:spLocks noGrp="1"/>
          </p:cNvSpPr>
          <p:nvPr/>
        </p:nvSpPr>
        <p:spPr>
          <a:xfrm>
            <a:off x="6191250" y="5762625"/>
            <a:ext cx="502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运行日志放在 run_logs/、test_runs/；生成的正式结果放到 publication_eval_20260614/。</a:t>
            </a:r>
          </a:p>
        </p:txBody>
      </p:sp>
      <p:sp>
        <p:nvSpPr>
          <p:cNvPr id="32" name="eval-paper-map">
            <a:extLst>
              <a:ext uri="{FF2B5EF4-FFF2-40B4-BE49-F238E27FC236}">
                <a16:creationId xmlns:a16="http://schemas.microsoft.com/office/drawing/2014/main" id="{BE3636B0-B1F3-45B9-896E-13A5AFBA0F34}"/>
              </a:ext>
            </a:extLst>
          </p:cNvPr>
          <p:cNvSpPr>
            <a:spLocks noGrp="1"/>
          </p:cNvSpPr>
          <p:nvPr/>
        </p:nvSpPr>
        <p:spPr>
          <a:xfrm>
            <a:off x="514350" y="6153150"/>
            <a:ext cx="1083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如果只想调一个模型，进入 update/&lt;算法&gt;/ 运行 tune_optuna_tpe.py；想跑完整论文实验，再用顶层脚本。</a:t>
            </a:r>
          </a:p>
        </p:txBody>
      </p:sp>
      <p:sp>
        <p:nvSpPr>
          <p:cNvPr id="33" name="footer-project-4">
            <a:extLst>
              <a:ext uri="{FF2B5EF4-FFF2-40B4-BE49-F238E27FC236}">
                <a16:creationId xmlns:a16="http://schemas.microsoft.com/office/drawing/2014/main" id="{4151FF9A-F280-45BD-86D1-09A5C772C4A1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5080train / PROJECT STRUCTURE</a:t>
            </a:r>
          </a:p>
        </p:txBody>
      </p:sp>
      <p:sp>
        <p:nvSpPr>
          <p:cNvPr id="34" name="footer-page-4">
            <a:extLst>
              <a:ext uri="{FF2B5EF4-FFF2-40B4-BE49-F238E27FC236}">
                <a16:creationId xmlns:a16="http://schemas.microsoft.com/office/drawing/2014/main" id="{EB2E9849-956A-4932-B895-069AE158218E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145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ection-5">
            <a:extLst>
              <a:ext uri="{FF2B5EF4-FFF2-40B4-BE49-F238E27FC236}">
                <a16:creationId xmlns:a16="http://schemas.microsoft.com/office/drawing/2014/main" id="{C05C18A3-2C6B-4D5E-B6BB-325278BD8EE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B64A2B"/>
                </a:solidFill>
              </a:defRPr>
            </a:pPr>
            <a:r>
              <a:rPr sz="975" b="1">
                <a:solidFill>
                  <a:srgbClr val="B64A2B"/>
                </a:solidFill>
              </a:rPr>
              <a:t>04 / RESULTS &amp; PAPER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42849381-147A-4145-A236-0839AA549F6C}"/>
              </a:ext>
            </a:extLst>
          </p:cNvPr>
          <p:cNvSpPr>
            <a:spLocks noGrp="1"/>
          </p:cNvSpPr>
          <p:nvPr/>
        </p:nvSpPr>
        <p:spPr>
          <a:xfrm>
            <a:off x="4953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625" b="1">
                <a:solidFill>
                  <a:srgbClr val="111111"/>
                </a:solidFill>
              </a:defRPr>
            </a:pPr>
            <a:r>
              <a:rPr lang="zh-CN" altLang="en-US" sz="2625" b="1" dirty="0">
                <a:solidFill>
                  <a:srgbClr val="111111"/>
                </a:solidFill>
              </a:rPr>
              <a:t>附加文件</a:t>
            </a:r>
            <a:endParaRPr sz="2625" b="1" dirty="0">
              <a:solidFill>
                <a:srgbClr val="111111"/>
              </a:solidFill>
            </a:endParaRP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C807F938-093C-469D-8582-C2E5BF6E8DFC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120140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doc-path-0">
            <a:extLst>
              <a:ext uri="{FF2B5EF4-FFF2-40B4-BE49-F238E27FC236}">
                <a16:creationId xmlns:a16="http://schemas.microsoft.com/office/drawing/2014/main" id="{21F81777-B16A-46EE-AB92-5608EBB6AAD1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B64A2B"/>
                </a:solidFill>
              </a:defRPr>
            </a:pPr>
            <a:r>
              <a:rPr sz="1425" b="0">
                <a:solidFill>
                  <a:srgbClr val="B64A2B"/>
                </a:solidFill>
              </a:rPr>
              <a:t>output/</a:t>
            </a:r>
          </a:p>
        </p:txBody>
      </p:sp>
      <p:sp>
        <p:nvSpPr>
          <p:cNvPr id="5" name="doc-sub-0">
            <a:extLst>
              <a:ext uri="{FF2B5EF4-FFF2-40B4-BE49-F238E27FC236}">
                <a16:creationId xmlns:a16="http://schemas.microsoft.com/office/drawing/2014/main" id="{29BB2FCF-F9E9-4600-9770-7B1C53902C6C}"/>
              </a:ext>
            </a:extLst>
          </p:cNvPr>
          <p:cNvSpPr>
            <a:spLocks noGrp="1"/>
          </p:cNvSpPr>
          <p:nvPr/>
        </p:nvSpPr>
        <p:spPr>
          <a:xfrm>
            <a:off x="2190750" y="1504950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&lt;模型名&gt;/ · 归档/ · paper_render/</a:t>
            </a:r>
          </a:p>
        </p:txBody>
      </p:sp>
      <p:sp>
        <p:nvSpPr>
          <p:cNvPr id="6" name="doc-body-0">
            <a:extLst>
              <a:ext uri="{FF2B5EF4-FFF2-40B4-BE49-F238E27FC236}">
                <a16:creationId xmlns:a16="http://schemas.microsoft.com/office/drawing/2014/main" id="{69EA82EB-E0E3-4D20-BEA6-1B4A1B7F58BA}"/>
              </a:ext>
            </a:extLst>
          </p:cNvPr>
          <p:cNvSpPr>
            <a:spLocks noGrp="1"/>
          </p:cNvSpPr>
          <p:nvPr/>
        </p:nvSpPr>
        <p:spPr>
          <a:xfrm>
            <a:off x="8572500" y="1485900"/>
            <a:ext cx="3000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模型训练产生的权重、日志、预测结果和普通结果图都在这里。</a:t>
            </a:r>
          </a:p>
        </p:txBody>
      </p:sp>
      <p:sp>
        <p:nvSpPr>
          <p:cNvPr id="7" name="doc-rule-0">
            <a:extLst>
              <a:ext uri="{FF2B5EF4-FFF2-40B4-BE49-F238E27FC236}">
                <a16:creationId xmlns:a16="http://schemas.microsoft.com/office/drawing/2014/main" id="{8A3FD983-6956-4B91-8963-8A6DC12F90C5}"/>
              </a:ext>
            </a:extLst>
          </p:cNvPr>
          <p:cNvSpPr>
            <a:spLocks noGrp="1"/>
          </p:cNvSpPr>
          <p:nvPr/>
        </p:nvSpPr>
        <p:spPr>
          <a:xfrm>
            <a:off x="514350" y="219075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doc-path-1">
            <a:extLst>
              <a:ext uri="{FF2B5EF4-FFF2-40B4-BE49-F238E27FC236}">
                <a16:creationId xmlns:a16="http://schemas.microsoft.com/office/drawing/2014/main" id="{977BFBD2-34FF-440B-8925-CBBEADD92956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B64A2B"/>
                </a:solidFill>
              </a:defRPr>
            </a:pPr>
            <a:r>
              <a:rPr sz="1425" b="0">
                <a:solidFill>
                  <a:srgbClr val="B64A2B"/>
                </a:solidFill>
              </a:rPr>
              <a:t>publication_eval_20260614/</a:t>
            </a:r>
          </a:p>
        </p:txBody>
      </p:sp>
      <p:sp>
        <p:nvSpPr>
          <p:cNvPr id="9" name="doc-sub-1">
            <a:extLst>
              <a:ext uri="{FF2B5EF4-FFF2-40B4-BE49-F238E27FC236}">
                <a16:creationId xmlns:a16="http://schemas.microsoft.com/office/drawing/2014/main" id="{B43CB9B4-EDD1-4ADA-8164-0A1A909B49C6}"/>
              </a:ext>
            </a:extLst>
          </p:cNvPr>
          <p:cNvSpPr>
            <a:spLocks noGrp="1"/>
          </p:cNvSpPr>
          <p:nvPr/>
        </p:nvSpPr>
        <p:spPr>
          <a:xfrm>
            <a:off x="2190750" y="2362200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 err="1">
                <a:solidFill>
                  <a:srgbClr val="111111"/>
                </a:solidFill>
              </a:rPr>
              <a:t>final_multiseed</a:t>
            </a:r>
            <a:r>
              <a:rPr sz="1200" b="0" dirty="0">
                <a:solidFill>
                  <a:srgbClr val="111111"/>
                </a:solidFill>
              </a:rPr>
              <a:t>/ · ablations/ · statistics/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 err="1">
                <a:solidFill>
                  <a:srgbClr val="111111"/>
                </a:solidFill>
              </a:rPr>
              <a:t>paper_tables</a:t>
            </a:r>
            <a:r>
              <a:rPr sz="1200" b="0" dirty="0">
                <a:solidFill>
                  <a:srgbClr val="111111"/>
                </a:solidFill>
              </a:rPr>
              <a:t>/ · </a:t>
            </a:r>
            <a:r>
              <a:rPr sz="1200" b="0" dirty="0" err="1">
                <a:solidFill>
                  <a:srgbClr val="111111"/>
                </a:solidFill>
              </a:rPr>
              <a:t>paper_figures</a:t>
            </a:r>
            <a:r>
              <a:rPr sz="1200" b="0" dirty="0">
                <a:solidFill>
                  <a:srgbClr val="111111"/>
                </a:solidFill>
              </a:rPr>
              <a:t>/ · </a:t>
            </a:r>
            <a:r>
              <a:rPr sz="1200" b="0" dirty="0" err="1">
                <a:solidFill>
                  <a:srgbClr val="111111"/>
                </a:solidFill>
              </a:rPr>
              <a:t>reproducibility_package</a:t>
            </a:r>
            <a:r>
              <a:rPr sz="1200" b="0" dirty="0">
                <a:solidFill>
                  <a:srgbClr val="111111"/>
                </a:solidFill>
              </a:rPr>
              <a:t>/</a:t>
            </a:r>
          </a:p>
        </p:txBody>
      </p:sp>
      <p:sp>
        <p:nvSpPr>
          <p:cNvPr id="10" name="doc-body-1">
            <a:extLst>
              <a:ext uri="{FF2B5EF4-FFF2-40B4-BE49-F238E27FC236}">
                <a16:creationId xmlns:a16="http://schemas.microsoft.com/office/drawing/2014/main" id="{D903D0C2-811C-43A3-BCDA-924C14CC5913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3000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lang="zh-CN" altLang="en-US" sz="1200" b="0" dirty="0">
                <a:solidFill>
                  <a:srgbClr val="666666"/>
                </a:solidFill>
              </a:rPr>
              <a:t>训练</a:t>
            </a:r>
            <a:r>
              <a:rPr sz="1200" b="0" dirty="0" err="1">
                <a:solidFill>
                  <a:srgbClr val="666666"/>
                </a:solidFill>
              </a:rPr>
              <a:t>结果、消融、统计检验、论文表图和复现材料都在这里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doc-rule-1">
            <a:extLst>
              <a:ext uri="{FF2B5EF4-FFF2-40B4-BE49-F238E27FC236}">
                <a16:creationId xmlns:a16="http://schemas.microsoft.com/office/drawing/2014/main" id="{EC759EB8-E763-46B8-9E42-8160AFC38E62}"/>
              </a:ext>
            </a:extLst>
          </p:cNvPr>
          <p:cNvSpPr>
            <a:spLocks noGrp="1"/>
          </p:cNvSpPr>
          <p:nvPr/>
        </p:nvSpPr>
        <p:spPr>
          <a:xfrm>
            <a:off x="514350" y="30480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doc-path-2">
            <a:extLst>
              <a:ext uri="{FF2B5EF4-FFF2-40B4-BE49-F238E27FC236}">
                <a16:creationId xmlns:a16="http://schemas.microsoft.com/office/drawing/2014/main" id="{899BB94D-459C-4638-AA5C-CB0106DF9143}"/>
              </a:ext>
            </a:extLst>
          </p:cNvPr>
          <p:cNvSpPr>
            <a:spLocks noGrp="1"/>
          </p:cNvSpPr>
          <p:nvPr/>
        </p:nvSpPr>
        <p:spPr>
          <a:xfrm>
            <a:off x="514350" y="32194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B64A2B"/>
                </a:solidFill>
              </a:defRPr>
            </a:pPr>
            <a:r>
              <a:rPr sz="1425" b="0">
                <a:solidFill>
                  <a:srgbClr val="B64A2B"/>
                </a:solidFill>
              </a:rPr>
              <a:t>md_files/</a:t>
            </a:r>
          </a:p>
        </p:txBody>
      </p:sp>
      <p:sp>
        <p:nvSpPr>
          <p:cNvPr id="13" name="doc-sub-2">
            <a:extLst>
              <a:ext uri="{FF2B5EF4-FFF2-40B4-BE49-F238E27FC236}">
                <a16:creationId xmlns:a16="http://schemas.microsoft.com/office/drawing/2014/main" id="{A75936D5-1614-40BB-830E-88293A8D407C}"/>
              </a:ext>
            </a:extLst>
          </p:cNvPr>
          <p:cNvSpPr>
            <a:spLocks noGrp="1"/>
          </p:cNvSpPr>
          <p:nvPr/>
        </p:nvSpPr>
        <p:spPr>
          <a:xfrm>
            <a:off x="2190750" y="3219450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01_training_reports/ · 02_research_and_paper/</a:t>
            </a:r>
          </a:p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03_implementation_plans/ · 04_version_notes/</a:t>
            </a:r>
          </a:p>
        </p:txBody>
      </p:sp>
      <p:sp>
        <p:nvSpPr>
          <p:cNvPr id="14" name="doc-body-2">
            <a:extLst>
              <a:ext uri="{FF2B5EF4-FFF2-40B4-BE49-F238E27FC236}">
                <a16:creationId xmlns:a16="http://schemas.microsoft.com/office/drawing/2014/main" id="{89236610-08CD-4D27-B130-939F28D4F12B}"/>
              </a:ext>
            </a:extLst>
          </p:cNvPr>
          <p:cNvSpPr>
            <a:spLocks noGrp="1"/>
          </p:cNvSpPr>
          <p:nvPr/>
        </p:nvSpPr>
        <p:spPr>
          <a:xfrm>
            <a:off x="8572500" y="3200400"/>
            <a:ext cx="3000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 err="1">
                <a:solidFill>
                  <a:srgbClr val="666666"/>
                </a:solidFill>
              </a:rPr>
              <a:t>放训练总结、TODO</a:t>
            </a:r>
            <a:r>
              <a:rPr sz="1200" b="0" dirty="0">
                <a:solidFill>
                  <a:srgbClr val="666666"/>
                </a:solidFill>
              </a:rPr>
              <a:t> </a:t>
            </a:r>
            <a:r>
              <a:rPr sz="1200" b="0" dirty="0" err="1">
                <a:solidFill>
                  <a:srgbClr val="666666"/>
                </a:solidFill>
              </a:rPr>
              <a:t>报告、实现方案和旧版本说明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5" name="doc-rule-2">
            <a:extLst>
              <a:ext uri="{FF2B5EF4-FFF2-40B4-BE49-F238E27FC236}">
                <a16:creationId xmlns:a16="http://schemas.microsoft.com/office/drawing/2014/main" id="{F068A0D2-6DF6-4E21-9B0F-48C3E3924F1E}"/>
              </a:ext>
            </a:extLst>
          </p:cNvPr>
          <p:cNvSpPr>
            <a:spLocks noGrp="1"/>
          </p:cNvSpPr>
          <p:nvPr/>
        </p:nvSpPr>
        <p:spPr>
          <a:xfrm>
            <a:off x="514350" y="390525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doc-rule-3">
            <a:extLst>
              <a:ext uri="{FF2B5EF4-FFF2-40B4-BE49-F238E27FC236}">
                <a16:creationId xmlns:a16="http://schemas.microsoft.com/office/drawing/2014/main" id="{6390A07A-1A58-4E45-911D-B05EB768CB84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1182350" cy="9525"/>
          </a:xfrm>
          <a:prstGeom prst="rect">
            <a:avLst/>
          </a:prstGeom>
          <a:solidFill>
            <a:srgbClr val="D7D7D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doc-path-4">
            <a:extLst>
              <a:ext uri="{FF2B5EF4-FFF2-40B4-BE49-F238E27FC236}">
                <a16:creationId xmlns:a16="http://schemas.microsoft.com/office/drawing/2014/main" id="{48D7A7E2-7113-4F28-A3DB-4E7E0BFC4A12}"/>
              </a:ext>
            </a:extLst>
          </p:cNvPr>
          <p:cNvSpPr>
            <a:spLocks noGrp="1"/>
          </p:cNvSpPr>
          <p:nvPr/>
        </p:nvSpPr>
        <p:spPr>
          <a:xfrm>
            <a:off x="514350" y="4152262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B64A2B"/>
                </a:solidFill>
              </a:defRPr>
            </a:pPr>
            <a:r>
              <a:rPr sz="1425" b="0" dirty="0">
                <a:solidFill>
                  <a:srgbClr val="B64A2B"/>
                </a:solidFill>
              </a:rPr>
              <a:t>outputs/</a:t>
            </a:r>
          </a:p>
        </p:txBody>
      </p:sp>
      <p:sp>
        <p:nvSpPr>
          <p:cNvPr id="21" name="doc-sub-4">
            <a:extLst>
              <a:ext uri="{FF2B5EF4-FFF2-40B4-BE49-F238E27FC236}">
                <a16:creationId xmlns:a16="http://schemas.microsoft.com/office/drawing/2014/main" id="{11C6AAAE-2523-4CFB-BE38-0F6CAA52C9E4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619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111111"/>
                </a:solidFill>
              </a:defRPr>
            </a:pPr>
            <a:r>
              <a:rPr sz="1200" b="0" dirty="0" err="1">
                <a:solidFill>
                  <a:srgbClr val="111111"/>
                </a:solidFill>
              </a:rPr>
              <a:t>最终对外文件</a:t>
            </a:r>
            <a:endParaRPr sz="1200" b="0" dirty="0">
              <a:solidFill>
                <a:srgbClr val="111111"/>
              </a:solidFill>
            </a:endParaRPr>
          </a:p>
        </p:txBody>
      </p:sp>
      <p:sp>
        <p:nvSpPr>
          <p:cNvPr id="22" name="doc-body-4">
            <a:extLst>
              <a:ext uri="{FF2B5EF4-FFF2-40B4-BE49-F238E27FC236}">
                <a16:creationId xmlns:a16="http://schemas.microsoft.com/office/drawing/2014/main" id="{DD07610A-FD93-4E4F-84AA-3E442F1BD4E5}"/>
              </a:ext>
            </a:extLst>
          </p:cNvPr>
          <p:cNvSpPr>
            <a:spLocks noGrp="1"/>
          </p:cNvSpPr>
          <p:nvPr/>
        </p:nvSpPr>
        <p:spPr>
          <a:xfrm>
            <a:off x="8572500" y="4105275"/>
            <a:ext cx="3000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 dirty="0">
                <a:solidFill>
                  <a:srgbClr val="666666"/>
                </a:solidFill>
              </a:rPr>
              <a:t>本 PPT </a:t>
            </a:r>
            <a:r>
              <a:rPr sz="1200" b="0" dirty="0" err="1">
                <a:solidFill>
                  <a:srgbClr val="666666"/>
                </a:solidFill>
              </a:rPr>
              <a:t>以及其他准备分享、提交或上传</a:t>
            </a:r>
            <a:r>
              <a:rPr sz="1200" b="0" dirty="0">
                <a:solidFill>
                  <a:srgbClr val="666666"/>
                </a:solidFill>
              </a:rPr>
              <a:t> GitHub </a:t>
            </a:r>
            <a:r>
              <a:rPr sz="1200" b="0" dirty="0" err="1">
                <a:solidFill>
                  <a:srgbClr val="666666"/>
                </a:solidFill>
              </a:rPr>
              <a:t>的成品放这里</a:t>
            </a:r>
            <a:r>
              <a:rPr sz="1200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23" name="nav-chain-bg">
            <a:extLst>
              <a:ext uri="{FF2B5EF4-FFF2-40B4-BE49-F238E27FC236}">
                <a16:creationId xmlns:a16="http://schemas.microsoft.com/office/drawing/2014/main" id="{DAA5C72D-1587-4572-A0A1-7EA4129AEB74}"/>
              </a:ext>
            </a:extLst>
          </p:cNvPr>
          <p:cNvSpPr>
            <a:spLocks noGrp="1"/>
          </p:cNvSpPr>
          <p:nvPr/>
        </p:nvSpPr>
        <p:spPr>
          <a:xfrm>
            <a:off x="514350" y="6000750"/>
            <a:ext cx="11182350" cy="3238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nav-chain">
            <a:extLst>
              <a:ext uri="{FF2B5EF4-FFF2-40B4-BE49-F238E27FC236}">
                <a16:creationId xmlns:a16="http://schemas.microsoft.com/office/drawing/2014/main" id="{F3FD984B-D218-4386-99BC-F38E9568F486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10839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最容易混淆：output/ 是模型运行结果；outputs/ 是准备交付的成品文件。</a:t>
            </a:r>
          </a:p>
        </p:txBody>
      </p:sp>
      <p:sp>
        <p:nvSpPr>
          <p:cNvPr id="25" name="footer-project-5">
            <a:extLst>
              <a:ext uri="{FF2B5EF4-FFF2-40B4-BE49-F238E27FC236}">
                <a16:creationId xmlns:a16="http://schemas.microsoft.com/office/drawing/2014/main" id="{590085F3-E9E4-4C0D-98A0-FBB4B0BC9ED3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5080train / PROJECT STRUCTURE</a:t>
            </a:r>
          </a:p>
        </p:txBody>
      </p:sp>
      <p:sp>
        <p:nvSpPr>
          <p:cNvPr id="26" name="footer-page-5">
            <a:extLst>
              <a:ext uri="{FF2B5EF4-FFF2-40B4-BE49-F238E27FC236}">
                <a16:creationId xmlns:a16="http://schemas.microsoft.com/office/drawing/2014/main" id="{FAC3F775-EC1C-4688-8A80-3A84413A82C3}"/>
              </a:ext>
            </a:extLst>
          </p:cNvPr>
          <p:cNvSpPr>
            <a:spLocks noGrp="1"/>
          </p:cNvSpPr>
          <p:nvPr/>
        </p:nvSpPr>
        <p:spPr>
          <a:xfrm>
            <a:off x="11334750" y="64008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72612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DocSecurity>0</DocSecurity>
  <PresentationFormat>宽屏</PresentationFormat>
  <Paragraphs>110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 W</cp:lastModifiedBy>
  <cp:revision>1</cp:revision>
  <dcterms:created xsi:type="dcterms:W3CDTF">2026-06-25T16:02:02Z</dcterms:created>
  <dcterms:modified xsi:type="dcterms:W3CDTF">2026-06-25T16:45:11Z</dcterms:modified>
</cp:coreProperties>
</file>