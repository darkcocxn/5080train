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f60a28cea23467c" /><Relationship Type="http://schemas.openxmlformats.org/officeDocument/2006/relationships/extended-properties" Target="/docProps/app.xml" Id="Ra4af39213afb4826" /><Relationship Type="http://schemas.openxmlformats.org/officeDocument/2006/relationships/officeDocument" Target="/ppt/presentation.xml" Id="Rfeeed2942cd6487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ddd555720ee4d2f"/>
  </p:sldMasterIdLst>
  <p:notesMasterIdLst>
    <p:notesMasterId xmlns:r="http://schemas.openxmlformats.org/officeDocument/2006/relationships" r:id="R3256ba8b12cb45a4"/>
  </p:notesMasterIdLst>
  <p:sldIdLst>
    <p:sldId xmlns:r="http://schemas.openxmlformats.org/officeDocument/2006/relationships" id="256" r:id="R7fae206d2d1547aa"/>
    <p:sldId xmlns:r="http://schemas.openxmlformats.org/officeDocument/2006/relationships" id="257" r:id="Rd0cf6882845c4cbc"/>
    <p:sldId xmlns:r="http://schemas.openxmlformats.org/officeDocument/2006/relationships" id="258" r:id="R3f68d4081d154e4b"/>
    <p:sldId xmlns:r="http://schemas.openxmlformats.org/officeDocument/2006/relationships" id="259" r:id="R6f4faf78cf084454"/>
    <p:sldId xmlns:r="http://schemas.openxmlformats.org/officeDocument/2006/relationships" id="260" r:id="R0e2a065590e4475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419b695450141de" /><Relationship Type="http://schemas.openxmlformats.org/officeDocument/2006/relationships/slideMaster" Target="/ppt/slideMasters/slideMaster1.xml" Id="Raddd555720ee4d2f" /><Relationship Type="http://schemas.openxmlformats.org/officeDocument/2006/relationships/notesMaster" Target="/ppt/notesMasters/notesMaster1.xml" Id="R3256ba8b12cb45a4" /><Relationship Type="http://schemas.openxmlformats.org/officeDocument/2006/relationships/presProps" Target="/ppt/presProps.xml" Id="R433878b5216f4c74" /><Relationship Type="http://schemas.openxmlformats.org/officeDocument/2006/relationships/tableStyles" Target="/ppt/tableStyles.xml" Id="R934264dc04634a54" /><Relationship Type="http://schemas.openxmlformats.org/officeDocument/2006/relationships/slide" Target="/ppt/slides/slide1.xml" Id="R7fae206d2d1547aa" /><Relationship Type="http://schemas.openxmlformats.org/officeDocument/2006/relationships/slide" Target="/ppt/slides/slide2.xml" Id="Rd0cf6882845c4cbc" /><Relationship Type="http://schemas.openxmlformats.org/officeDocument/2006/relationships/slide" Target="/ppt/slides/slide3.xml" Id="R3f68d4081d154e4b" /><Relationship Type="http://schemas.openxmlformats.org/officeDocument/2006/relationships/slide" Target="/ppt/slides/slide4.xml" Id="R6f4faf78cf084454" /><Relationship Type="http://schemas.openxmlformats.org/officeDocument/2006/relationships/slide" Target="/ppt/slides/slide5.xml" Id="R0e2a065590e4475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86b21be09f9426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f3e6616e7d04ee4" /><Relationship Type="http://schemas.openxmlformats.org/officeDocument/2006/relationships/notesMaster" Target="/ppt/notesMasters/notesMaster1.xml" Id="R19ca988a4f584ce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b94af3bbe3b4a72" /><Relationship Type="http://schemas.openxmlformats.org/officeDocument/2006/relationships/notesMaster" Target="/ppt/notesMasters/notesMaster1.xml" Id="R4150c667d7fd4c3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e88eeb3c9934784" /><Relationship Type="http://schemas.openxmlformats.org/officeDocument/2006/relationships/notesMaster" Target="/ppt/notesMasters/notesMaster1.xml" Id="R51aad871e491490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caaa52a4dc14de2" /><Relationship Type="http://schemas.openxmlformats.org/officeDocument/2006/relationships/notesMaster" Target="/ppt/notesMasters/notesMaster1.xml" Id="Rfc03ac039e654be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dcc2f44cf584246" /><Relationship Type="http://schemas.openxmlformats.org/officeDocument/2006/relationships/notesMaster" Target="/ppt/notesMasters/notesMaster1.xml" Id="R113774a0a231479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6986b93bd5410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91fd48d87d94244" /><Relationship Type="http://schemas.openxmlformats.org/officeDocument/2006/relationships/slideLayout" Target="/ppt/slideLayouts/slideLayout1.xml" Id="R0abbfd8f7d43447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abbfd8f7d43447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1bdf4fe0964f57" /><Relationship Type="http://schemas.openxmlformats.org/officeDocument/2006/relationships/notesSlide" Target="/ppt/notesSlides/notesSlide1.xml" Id="R11373128cede478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722087d6cd4c4a" /><Relationship Type="http://schemas.openxmlformats.org/officeDocument/2006/relationships/notesSlide" Target="/ppt/notesSlides/notesSlide2.xml" Id="R7513ff6179be458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d0bdcae265436e" /><Relationship Type="http://schemas.openxmlformats.org/officeDocument/2006/relationships/notesSlide" Target="/ppt/notesSlides/notesSlide3.xml" Id="R11ad5de545724f4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280f8d35274e63" /><Relationship Type="http://schemas.openxmlformats.org/officeDocument/2006/relationships/notesSlide" Target="/ppt/notesSlides/notesSlide4.xml" Id="R3ba54ca14aa44f0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321747580b45f6" /><Relationship Type="http://schemas.openxmlformats.org/officeDocument/2006/relationships/notesSlide" Target="/ppt/notesSlides/notesSlide5.xml" Id="Rd2b2085c1110417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6C96300B-8BC2-4B3A-AB62-21EB8FDF6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64A2B"/>
                </a:solidFill>
              </a:defRPr>
            </a:pPr>
            <a:r>
              <a:rPr sz="1050" b="1">
                <a:solidFill>
                  <a:srgbClr val="B64A2B"/>
                </a:solidFill>
              </a:rPr>
              <a:t>REPOSITORY STRUCTURE / PAPER MAP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2054AF7B-5928-45E2-9121-8D62D40DD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90600"/>
            <a:ext cx="106680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11111"/>
                </a:solidFill>
              </a:defRPr>
            </a:pPr>
            <a:r>
              <a:rPr sz="3750" b="1">
                <a:solidFill>
                  <a:srgbClr val="111111"/>
                </a:solidFill>
              </a:rPr>
              <a:t>5080train 仓库结构</a:t>
            </a:r>
          </a:p>
          <a:p xmlns:a="http://schemas.openxmlformats.org/drawingml/2006/main">
            <a:pPr algn="l">
              <a:defRPr sz="3750" b="1">
                <a:solidFill>
                  <a:srgbClr val="111111"/>
                </a:solidFill>
              </a:defRPr>
            </a:pPr>
            <a:r>
              <a:rPr sz="3750" b="1">
                <a:solidFill>
                  <a:srgbClr val="111111"/>
                </a:solidFill>
              </a:rPr>
              <a:t>及其与论文的对应关系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27D55209-A0A5-4E16-9E46-82267C899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7655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66666"/>
                </a:solidFill>
              </a:defRPr>
            </a:pPr>
            <a:r>
              <a:rPr sz="1800" b="0">
                <a:solidFill>
                  <a:srgbClr val="666666"/>
                </a:solidFill>
              </a:rPr>
              <a:t>仓库按“数据生成—模型实现—实验评价—论文交付”组织</a:t>
            </a:r>
          </a:p>
        </p:txBody>
      </p:sp>
      <p:sp>
        <p:nvSpPr>
          <p:cNvPr id="4" name="cover-rule">
            <a:extLst xmlns:a="http://schemas.openxmlformats.org/drawingml/2006/main">
              <a:ext uri="{FF2B5EF4-FFF2-40B4-BE49-F238E27FC236}">
                <a16:creationId xmlns:a16="http://schemas.microsoft.com/office/drawing/2014/main" id="{12EC771A-DFCC-483C-AC99-F69B41615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00450"/>
            <a:ext cx="11182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over-map-num-0">
            <a:extLst xmlns:a="http://schemas.openxmlformats.org/drawingml/2006/main">
              <a:ext uri="{FF2B5EF4-FFF2-40B4-BE49-F238E27FC236}">
                <a16:creationId xmlns:a16="http://schemas.microsoft.com/office/drawing/2014/main" id="{575C1E8B-2019-4AF4-95A6-CC29A77A5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862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64A2B"/>
                </a:solidFill>
              </a:defRPr>
            </a:pPr>
            <a:r>
              <a:rPr sz="1200" b="1">
                <a:solidFill>
                  <a:srgbClr val="B64A2B"/>
                </a:solidFill>
              </a:rPr>
              <a:t>01</a:t>
            </a:r>
          </a:p>
        </p:txBody>
      </p:sp>
      <p:sp>
        <p:nvSpPr>
          <p:cNvPr id="6" name="cover-map-title-0">
            <a:extLst xmlns:a="http://schemas.openxmlformats.org/drawingml/2006/main">
              <a:ext uri="{FF2B5EF4-FFF2-40B4-BE49-F238E27FC236}">
                <a16:creationId xmlns:a16="http://schemas.microsoft.com/office/drawing/2014/main" id="{FADAA184-4BC2-4DD1-BDAB-B4D0AD134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6715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</a:defRPr>
            </a:pPr>
            <a:r>
              <a:rPr sz="1425" b="1">
                <a:solidFill>
                  <a:srgbClr val="111111"/>
                </a:solidFill>
              </a:rPr>
              <a:t>数据源与生成</a:t>
            </a:r>
          </a:p>
        </p:txBody>
      </p:sp>
      <p:sp>
        <p:nvSpPr>
          <p:cNvPr id="7" name="cover-map-path-0">
            <a:extLst xmlns:a="http://schemas.openxmlformats.org/drawingml/2006/main">
              <a:ext uri="{FF2B5EF4-FFF2-40B4-BE49-F238E27FC236}">
                <a16:creationId xmlns:a16="http://schemas.microsoft.com/office/drawing/2014/main" id="{61069889-42D8-4052-8E71-15847EE10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886200"/>
            <a:ext cx="581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</a:defRPr>
            </a:pPr>
            <a:r>
              <a:rPr sz="1200" b="0">
                <a:solidFill>
                  <a:srgbClr val="666666"/>
                </a:solidFill>
              </a:rPr>
              <a:t>EarthquarkChoose / Dategeneral / xiaobotu / rawdata / newdata</a:t>
            </a:r>
          </a:p>
        </p:txBody>
      </p:sp>
      <p:sp>
        <p:nvSpPr>
          <p:cNvPr id="8" name="cover-map-paper-0">
            <a:extLst xmlns:a="http://schemas.openxmlformats.org/drawingml/2006/main">
              <a:ext uri="{FF2B5EF4-FFF2-40B4-BE49-F238E27FC236}">
                <a16:creationId xmlns:a16="http://schemas.microsoft.com/office/drawing/2014/main" id="{E9292216-EFD0-45E6-9047-0AE4C97E7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76675"/>
            <a:ext cx="2333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论文第 3 章</a:t>
            </a:r>
          </a:p>
        </p:txBody>
      </p:sp>
      <p:sp>
        <p:nvSpPr>
          <p:cNvPr id="9" name="cover-map-num-1">
            <a:extLst xmlns:a="http://schemas.openxmlformats.org/drawingml/2006/main">
              <a:ext uri="{FF2B5EF4-FFF2-40B4-BE49-F238E27FC236}">
                <a16:creationId xmlns:a16="http://schemas.microsoft.com/office/drawing/2014/main" id="{07C119B6-9017-4CCC-98B6-8C882734B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386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64A2B"/>
                </a:solidFill>
              </a:defRPr>
            </a:pPr>
            <a:r>
              <a:rPr sz="1200" b="1">
                <a:solidFill>
                  <a:srgbClr val="B64A2B"/>
                </a:solidFill>
              </a:rPr>
              <a:t>02</a:t>
            </a:r>
          </a:p>
        </p:txBody>
      </p:sp>
      <p:sp>
        <p:nvSpPr>
          <p:cNvPr id="10" name="cover-map-title-1">
            <a:extLst xmlns:a="http://schemas.openxmlformats.org/drawingml/2006/main">
              <a:ext uri="{FF2B5EF4-FFF2-40B4-BE49-F238E27FC236}">
                <a16:creationId xmlns:a16="http://schemas.microsoft.com/office/drawing/2014/main" id="{0C0EB6A9-1F3F-46A1-925D-392474FE8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41960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</a:defRPr>
            </a:pPr>
            <a:r>
              <a:rPr sz="1425" b="1">
                <a:solidFill>
                  <a:srgbClr val="111111"/>
                </a:solidFill>
              </a:rPr>
              <a:t>模型与结果</a:t>
            </a:r>
          </a:p>
        </p:txBody>
      </p:sp>
      <p:sp>
        <p:nvSpPr>
          <p:cNvPr id="11" name="cover-map-path-1">
            <a:extLst xmlns:a="http://schemas.openxmlformats.org/drawingml/2006/main">
              <a:ext uri="{FF2B5EF4-FFF2-40B4-BE49-F238E27FC236}">
                <a16:creationId xmlns:a16="http://schemas.microsoft.com/office/drawing/2014/main" id="{69A1D12A-5D6C-4BE2-965D-994D3210F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438650"/>
            <a:ext cx="581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</a:defRPr>
            </a:pPr>
            <a:r>
              <a:rPr sz="1200" b="0">
                <a:solidFill>
                  <a:srgbClr val="666666"/>
                </a:solidFill>
              </a:rPr>
              <a:t>2dcnnv1 / 序列与表格基线 / output</a:t>
            </a:r>
          </a:p>
        </p:txBody>
      </p:sp>
      <p:sp>
        <p:nvSpPr>
          <p:cNvPr id="12" name="cover-map-paper-1">
            <a:extLst xmlns:a="http://schemas.openxmlformats.org/drawingml/2006/main">
              <a:ext uri="{FF2B5EF4-FFF2-40B4-BE49-F238E27FC236}">
                <a16:creationId xmlns:a16="http://schemas.microsoft.com/office/drawing/2014/main" id="{F28273A9-79FC-4C42-9321-74D1F023E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429125"/>
            <a:ext cx="2333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论文第 2、4、6 章</a:t>
            </a:r>
          </a:p>
        </p:txBody>
      </p:sp>
      <p:sp>
        <p:nvSpPr>
          <p:cNvPr id="13" name="cover-map-num-2">
            <a:extLst xmlns:a="http://schemas.openxmlformats.org/drawingml/2006/main">
              <a:ext uri="{FF2B5EF4-FFF2-40B4-BE49-F238E27FC236}">
                <a16:creationId xmlns:a16="http://schemas.microsoft.com/office/drawing/2014/main" id="{80415EAC-AE6D-4D59-AB3C-610F72B3D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911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64A2B"/>
                </a:solidFill>
              </a:defRPr>
            </a:pPr>
            <a:r>
              <a:rPr sz="1200" b="1">
                <a:solidFill>
                  <a:srgbClr val="B64A2B"/>
                </a:solidFill>
              </a:rPr>
              <a:t>03</a:t>
            </a:r>
          </a:p>
        </p:txBody>
      </p:sp>
      <p:sp>
        <p:nvSpPr>
          <p:cNvPr id="14" name="cover-map-title-2">
            <a:extLst xmlns:a="http://schemas.openxmlformats.org/drawingml/2006/main">
              <a:ext uri="{FF2B5EF4-FFF2-40B4-BE49-F238E27FC236}">
                <a16:creationId xmlns:a16="http://schemas.microsoft.com/office/drawing/2014/main" id="{6312D582-B3EA-466D-989D-76C160376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97205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</a:defRPr>
            </a:pPr>
            <a:r>
              <a:rPr sz="1425" b="1">
                <a:solidFill>
                  <a:srgbClr val="111111"/>
                </a:solidFill>
              </a:rPr>
              <a:t>调参与证据</a:t>
            </a:r>
          </a:p>
        </p:txBody>
      </p:sp>
      <p:sp>
        <p:nvSpPr>
          <p:cNvPr id="15" name="cover-map-path-2">
            <a:extLst xmlns:a="http://schemas.openxmlformats.org/drawingml/2006/main">
              <a:ext uri="{FF2B5EF4-FFF2-40B4-BE49-F238E27FC236}">
                <a16:creationId xmlns:a16="http://schemas.microsoft.com/office/drawing/2014/main" id="{F962271D-1767-407D-83D2-CF908A582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991100"/>
            <a:ext cx="581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</a:defRPr>
            </a:pPr>
            <a:r>
              <a:rPr sz="1200" b="0">
                <a:solidFill>
                  <a:srgbClr val="666666"/>
                </a:solidFill>
              </a:rPr>
              <a:t>update / publication_eval_20260614</a:t>
            </a:r>
          </a:p>
        </p:txBody>
      </p:sp>
      <p:sp>
        <p:nvSpPr>
          <p:cNvPr id="16" name="cover-map-paper-2">
            <a:extLst xmlns:a="http://schemas.openxmlformats.org/drawingml/2006/main">
              <a:ext uri="{FF2B5EF4-FFF2-40B4-BE49-F238E27FC236}">
                <a16:creationId xmlns:a16="http://schemas.microsoft.com/office/drawing/2014/main" id="{15BB09AB-F6B0-49B9-AEF8-F5A7E11C3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981575"/>
            <a:ext cx="2333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论文第 5–7 章</a:t>
            </a:r>
          </a:p>
        </p:txBody>
      </p:sp>
      <p:sp>
        <p:nvSpPr>
          <p:cNvPr id="17" name="cover-map-num-3">
            <a:extLst xmlns:a="http://schemas.openxmlformats.org/drawingml/2006/main">
              <a:ext uri="{FF2B5EF4-FFF2-40B4-BE49-F238E27FC236}">
                <a16:creationId xmlns:a16="http://schemas.microsoft.com/office/drawing/2014/main" id="{8FAF0814-3EDF-4894-B892-C49962B8E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435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64A2B"/>
                </a:solidFill>
              </a:defRPr>
            </a:pPr>
            <a:r>
              <a:rPr sz="1200" b="1">
                <a:solidFill>
                  <a:srgbClr val="B64A2B"/>
                </a:solidFill>
              </a:rPr>
              <a:t>04</a:t>
            </a:r>
          </a:p>
        </p:txBody>
      </p:sp>
      <p:sp>
        <p:nvSpPr>
          <p:cNvPr id="18" name="cover-map-title-3">
            <a:extLst xmlns:a="http://schemas.openxmlformats.org/drawingml/2006/main">
              <a:ext uri="{FF2B5EF4-FFF2-40B4-BE49-F238E27FC236}">
                <a16:creationId xmlns:a16="http://schemas.microsoft.com/office/drawing/2014/main" id="{A9CE6595-11F9-4A0E-BDF4-2147D65BB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52450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</a:defRPr>
            </a:pPr>
            <a:r>
              <a:rPr sz="1425" b="1">
                <a:solidFill>
                  <a:srgbClr val="111111"/>
                </a:solidFill>
              </a:rPr>
              <a:t>写作与交付</a:t>
            </a:r>
          </a:p>
        </p:txBody>
      </p:sp>
      <p:sp>
        <p:nvSpPr>
          <p:cNvPr id="19" name="cover-map-path-3">
            <a:extLst xmlns:a="http://schemas.openxmlformats.org/drawingml/2006/main">
              <a:ext uri="{FF2B5EF4-FFF2-40B4-BE49-F238E27FC236}">
                <a16:creationId xmlns:a16="http://schemas.microsoft.com/office/drawing/2014/main" id="{F72B3D27-888C-405B-A8CC-CDD06E94C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543550"/>
            <a:ext cx="581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</a:defRPr>
            </a:pPr>
            <a:r>
              <a:rPr sz="1200" b="0">
                <a:solidFill>
                  <a:srgbClr val="666666"/>
                </a:solidFill>
              </a:rPr>
              <a:t>md_files / 草稿 / 论文 / outputs</a:t>
            </a:r>
          </a:p>
        </p:txBody>
      </p:sp>
      <p:sp>
        <p:nvSpPr>
          <p:cNvPr id="20" name="cover-map-paper-3">
            <a:extLst xmlns:a="http://schemas.openxmlformats.org/drawingml/2006/main">
              <a:ext uri="{FF2B5EF4-FFF2-40B4-BE49-F238E27FC236}">
                <a16:creationId xmlns:a16="http://schemas.microsoft.com/office/drawing/2014/main" id="{2E960A40-D7E2-43BA-8D28-E6BAB6097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534025"/>
            <a:ext cx="2333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论文全文与最终文件</a:t>
            </a:r>
          </a:p>
        </p:txBody>
      </p:sp>
      <p:sp>
        <p:nvSpPr>
          <p:cNvPr id="21" name="footer-project-1">
            <a:extLst xmlns:a="http://schemas.openxmlformats.org/drawingml/2006/main">
              <a:ext uri="{FF2B5EF4-FFF2-40B4-BE49-F238E27FC236}">
                <a16:creationId xmlns:a16="http://schemas.microsoft.com/office/drawing/2014/main" id="{52BB0A37-C467-4EC1-96FE-C72E54CE2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3238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6666"/>
                </a:solidFill>
              </a:defRPr>
            </a:pPr>
            <a:r>
              <a:rPr sz="825" b="0">
                <a:solidFill>
                  <a:srgbClr val="666666"/>
                </a:solidFill>
              </a:rPr>
              <a:t>5080train / PROJECT STRUCTURE</a:t>
            </a:r>
          </a:p>
        </p:txBody>
      </p:sp>
      <p:sp>
        <p:nvSpPr>
          <p:cNvPr id="22" name="footer-page-1">
            <a:extLst xmlns:a="http://schemas.openxmlformats.org/drawingml/2006/main">
              <a:ext uri="{FF2B5EF4-FFF2-40B4-BE49-F238E27FC236}">
                <a16:creationId xmlns:a16="http://schemas.microsoft.com/office/drawing/2014/main" id="{E3743A37-9A29-4F63-BAF8-326DE4A34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008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111111"/>
                </a:solidFill>
              </a:defRPr>
            </a:pPr>
            <a:r>
              <a:rPr sz="900" b="0">
                <a:solidFill>
                  <a:srgbClr val="111111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76921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-2">
            <a:extLst xmlns:a="http://schemas.openxmlformats.org/drawingml/2006/main">
              <a:ext uri="{FF2B5EF4-FFF2-40B4-BE49-F238E27FC236}">
                <a16:creationId xmlns:a16="http://schemas.microsoft.com/office/drawing/2014/main" id="{6BD8BD13-7CAC-4A41-990F-826629511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64A2B"/>
                </a:solidFill>
              </a:defRPr>
            </a:pPr>
            <a:r>
              <a:rPr sz="975" b="1">
                <a:solidFill>
                  <a:srgbClr val="B64A2B"/>
                </a:solidFill>
              </a:rPr>
              <a:t>01 / DATA PIPELINE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FFF6310C-D4DD-444B-AF60-DA99EC067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111"/>
                </a:solidFill>
              </a:defRPr>
            </a:pPr>
            <a:r>
              <a:rPr sz="2625" b="1">
                <a:solidFill>
                  <a:srgbClr val="111111"/>
                </a:solidFill>
              </a:rPr>
              <a:t>数据层：从地震波筛选到可训练数据集</a:t>
            </a:r>
          </a:p>
        </p:txBody>
      </p:sp>
      <p:sp>
        <p:nvSpPr>
          <p:cNvPr id="3" name="title-rule-2">
            <a:extLst xmlns:a="http://schemas.openxmlformats.org/drawingml/2006/main">
              <a:ext uri="{FF2B5EF4-FFF2-40B4-BE49-F238E27FC236}">
                <a16:creationId xmlns:a16="http://schemas.microsoft.com/office/drawing/2014/main" id="{F78D177F-C88A-4E3D-B398-6390A997E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525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7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ata-upstream-head">
            <a:extLst xmlns:a="http://schemas.openxmlformats.org/drawingml/2006/main">
              <a:ext uri="{FF2B5EF4-FFF2-40B4-BE49-F238E27FC236}">
                <a16:creationId xmlns:a16="http://schemas.microsoft.com/office/drawing/2014/main" id="{DEEEC94C-C81B-43AD-9978-E8BF662C2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上游数据工程子项目</a:t>
            </a:r>
          </a:p>
        </p:txBody>
      </p:sp>
      <p:sp>
        <p:nvSpPr>
          <p:cNvPr id="5" name="data-store-head">
            <a:extLst xmlns:a="http://schemas.openxmlformats.org/drawingml/2006/main">
              <a:ext uri="{FF2B5EF4-FFF2-40B4-BE49-F238E27FC236}">
                <a16:creationId xmlns:a16="http://schemas.microsoft.com/office/drawing/2014/main" id="{4A7817DD-9B5F-442E-A577-82348014B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619250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仓库内数据目录</a:t>
            </a:r>
          </a:p>
        </p:txBody>
      </p:sp>
      <p:sp>
        <p:nvSpPr>
          <p:cNvPr id="6" name="data-divider">
            <a:extLst xmlns:a="http://schemas.openxmlformats.org/drawingml/2006/main">
              <a:ext uri="{FF2B5EF4-FFF2-40B4-BE49-F238E27FC236}">
                <a16:creationId xmlns:a16="http://schemas.microsoft.com/office/drawing/2014/main" id="{47D2690D-FC6F-4EA1-B238-5811FB23C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1619250"/>
            <a:ext cx="9525" cy="426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7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up-path-0">
            <a:extLst xmlns:a="http://schemas.openxmlformats.org/drawingml/2006/main">
              <a:ext uri="{FF2B5EF4-FFF2-40B4-BE49-F238E27FC236}">
                <a16:creationId xmlns:a16="http://schemas.microsoft.com/office/drawing/2014/main" id="{52B5D5F8-8E9C-4ED7-9E6D-7D2EB5596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90750"/>
            <a:ext cx="2238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64A2B"/>
                </a:solidFill>
              </a:defRPr>
            </a:pPr>
            <a:r>
              <a:rPr sz="1350" b="0">
                <a:solidFill>
                  <a:srgbClr val="B64A2B"/>
                </a:solidFill>
              </a:rPr>
              <a:t>EarthquarkChoose/</a:t>
            </a:r>
          </a:p>
        </p:txBody>
      </p:sp>
      <p:sp>
        <p:nvSpPr>
          <p:cNvPr id="8" name="up-sub-0">
            <a:extLst xmlns:a="http://schemas.openxmlformats.org/drawingml/2006/main">
              <a:ext uri="{FF2B5EF4-FFF2-40B4-BE49-F238E27FC236}">
                <a16:creationId xmlns:a16="http://schemas.microsoft.com/office/drawing/2014/main" id="{134259E0-A08C-49EC-87F8-04F468C01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336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地震波分析/ · scripts/ · docs/ · 归档/</a:t>
            </a:r>
          </a:p>
        </p:txBody>
      </p:sp>
      <p:sp>
        <p:nvSpPr>
          <p:cNvPr id="9" name="up-body-0">
            <a:extLst xmlns:a="http://schemas.openxmlformats.org/drawingml/2006/main">
              <a:ext uri="{FF2B5EF4-FFF2-40B4-BE49-F238E27FC236}">
                <a16:creationId xmlns:a16="http://schemas.microsoft.com/office/drawing/2014/main" id="{7AFBDC38-6E39-4B75-B0EC-F38D6E5A8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</a:defRPr>
            </a:pPr>
            <a:r>
              <a:rPr sz="1200" b="0">
                <a:solidFill>
                  <a:srgbClr val="666666"/>
                </a:solidFill>
              </a:rPr>
              <a:t>NGA 地震波清洗、20 s 截取、强度分层、上海场地选波与 HDF5 建库。</a:t>
            </a:r>
          </a:p>
        </p:txBody>
      </p:sp>
      <p:sp>
        <p:nvSpPr>
          <p:cNvPr id="10" name="up-path-1">
            <a:extLst xmlns:a="http://schemas.openxmlformats.org/drawingml/2006/main">
              <a:ext uri="{FF2B5EF4-FFF2-40B4-BE49-F238E27FC236}">
                <a16:creationId xmlns:a16="http://schemas.microsoft.com/office/drawing/2014/main" id="{3DFA9881-0824-4D39-A514-00893ADCD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81375"/>
            <a:ext cx="2238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64A2B"/>
                </a:solidFill>
              </a:defRPr>
            </a:pPr>
            <a:r>
              <a:rPr sz="1350" b="0">
                <a:solidFill>
                  <a:srgbClr val="B64A2B"/>
                </a:solidFill>
              </a:rPr>
              <a:t>Dategeneral/</a:t>
            </a:r>
          </a:p>
        </p:txBody>
      </p:sp>
      <p:sp>
        <p:nvSpPr>
          <p:cNvPr id="11" name="up-sub-1">
            <a:extLst xmlns:a="http://schemas.openxmlformats.org/drawingml/2006/main">
              <a:ext uri="{FF2B5EF4-FFF2-40B4-BE49-F238E27FC236}">
                <a16:creationId xmlns:a16="http://schemas.microsoft.com/office/drawing/2014/main" id="{75E72D70-B174-4EDC-9DB6-3E3E8E284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24275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阻尼器范围确定/ · CSV-dataset/ · Newdatabase/</a:t>
            </a:r>
          </a:p>
        </p:txBody>
      </p:sp>
      <p:sp>
        <p:nvSpPr>
          <p:cNvPr id="12" name="up-body-1">
            <a:extLst xmlns:a="http://schemas.openxmlformats.org/drawingml/2006/main">
              <a:ext uri="{FF2B5EF4-FFF2-40B4-BE49-F238E27FC236}">
                <a16:creationId xmlns:a16="http://schemas.microsoft.com/office/drawing/2014/main" id="{72F4B10A-EB31-488D-8D5C-4D5418BF6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48125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</a:defRPr>
            </a:pPr>
            <a:r>
              <a:rPr sz="1200" b="0">
                <a:solidFill>
                  <a:srgbClr val="666666"/>
                </a:solidFill>
              </a:rPr>
              <a:t>参数化结构与阻尼器取值、OpenSees 时程分析、三阶段采样和尾部样本增强。</a:t>
            </a:r>
          </a:p>
        </p:txBody>
      </p:sp>
      <p:sp>
        <p:nvSpPr>
          <p:cNvPr id="13" name="up-path-2">
            <a:extLst xmlns:a="http://schemas.openxmlformats.org/drawingml/2006/main">
              <a:ext uri="{FF2B5EF4-FFF2-40B4-BE49-F238E27FC236}">
                <a16:creationId xmlns:a16="http://schemas.microsoft.com/office/drawing/2014/main" id="{3413F58B-403A-4C9E-BE0D-35442F986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0"/>
            <a:ext cx="2238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64A2B"/>
                </a:solidFill>
              </a:defRPr>
            </a:pPr>
            <a:r>
              <a:rPr sz="1350" b="0">
                <a:solidFill>
                  <a:srgbClr val="B64A2B"/>
                </a:solidFill>
              </a:rPr>
              <a:t>xiaobotu/</a:t>
            </a:r>
          </a:p>
        </p:txBody>
      </p:sp>
      <p:sp>
        <p:nvSpPr>
          <p:cNvPr id="14" name="up-sub-2">
            <a:extLst xmlns:a="http://schemas.openxmlformats.org/drawingml/2006/main">
              <a:ext uri="{FF2B5EF4-FFF2-40B4-BE49-F238E27FC236}">
                <a16:creationId xmlns:a16="http://schemas.microsoft.com/office/drawing/2014/main" id="{59D79A88-3264-4429-A48D-5BA386161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149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Newdatabase/ · TimeHistory/ · ML训练集_上海/</a:t>
            </a:r>
          </a:p>
        </p:txBody>
      </p:sp>
      <p:sp>
        <p:nvSpPr>
          <p:cNvPr id="15" name="up-body-2">
            <a:extLst xmlns:a="http://schemas.openxmlformats.org/drawingml/2006/main">
              <a:ext uri="{FF2B5EF4-FFF2-40B4-BE49-F238E27FC236}">
                <a16:creationId xmlns:a16="http://schemas.microsoft.com/office/drawing/2014/main" id="{8036D8AA-A9C2-41B7-88DD-5032BA5AC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2387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</a:defRPr>
            </a:pPr>
            <a:r>
              <a:rPr sz="1200" b="0">
                <a:solidFill>
                  <a:srgbClr val="666666"/>
                </a:solidFill>
              </a:rPr>
              <a:t>由 HDF5 生成小波图/时程图，并把图像路径写回 SQLite 元数据库。</a:t>
            </a:r>
          </a:p>
        </p:txBody>
      </p:sp>
      <p:sp>
        <p:nvSpPr>
          <p:cNvPr id="16" name="store-path-0">
            <a:extLst xmlns:a="http://schemas.openxmlformats.org/drawingml/2006/main">
              <a:ext uri="{FF2B5EF4-FFF2-40B4-BE49-F238E27FC236}">
                <a16:creationId xmlns:a16="http://schemas.microsoft.com/office/drawing/2014/main" id="{364F06DB-55F0-4366-9FA2-3C3BF264E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190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64A2B"/>
                </a:solidFill>
              </a:defRPr>
            </a:pPr>
            <a:r>
              <a:rPr sz="1350" b="0">
                <a:solidFill>
                  <a:srgbClr val="B64A2B"/>
                </a:solidFill>
              </a:rPr>
              <a:t>rawdata/</a:t>
            </a:r>
          </a:p>
        </p:txBody>
      </p:sp>
      <p:sp>
        <p:nvSpPr>
          <p:cNvPr id="17" name="store-sub-0">
            <a:extLst xmlns:a="http://schemas.openxmlformats.org/drawingml/2006/main">
              <a:ext uri="{FF2B5EF4-FFF2-40B4-BE49-F238E27FC236}">
                <a16:creationId xmlns:a16="http://schemas.microsoft.com/office/drawing/2014/main" id="{C4F9F8FF-CC4A-4D3F-B04E-CB20CAF87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5336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Origin-earthquake-file/ · Scalogram/</a:t>
            </a:r>
          </a:p>
        </p:txBody>
      </p:sp>
      <p:sp>
        <p:nvSpPr>
          <p:cNvPr id="18" name="store-body-0">
            <a:extLst xmlns:a="http://schemas.openxmlformats.org/drawingml/2006/main">
              <a:ext uri="{FF2B5EF4-FFF2-40B4-BE49-F238E27FC236}">
                <a16:creationId xmlns:a16="http://schemas.microsoft.com/office/drawing/2014/main" id="{4FDA674A-9623-463E-BAA7-9134DAEA6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</a:defRPr>
            </a:pPr>
            <a:r>
              <a:rPr sz="1200" b="0">
                <a:solidFill>
                  <a:srgbClr val="666666"/>
                </a:solidFill>
              </a:rPr>
              <a:t>保存原始地震波与早期时频图，是最靠近原始输入的存储层。</a:t>
            </a:r>
          </a:p>
        </p:txBody>
      </p:sp>
      <p:sp>
        <p:nvSpPr>
          <p:cNvPr id="19" name="store-path-1">
            <a:extLst xmlns:a="http://schemas.openxmlformats.org/drawingml/2006/main">
              <a:ext uri="{FF2B5EF4-FFF2-40B4-BE49-F238E27FC236}">
                <a16:creationId xmlns:a16="http://schemas.microsoft.com/office/drawing/2014/main" id="{14F2E969-FCEF-4E98-B96E-4E530F68A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38137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64A2B"/>
                </a:solidFill>
              </a:defRPr>
            </a:pPr>
            <a:r>
              <a:rPr sz="1350" b="0">
                <a:solidFill>
                  <a:srgbClr val="B64A2B"/>
                </a:solidFill>
              </a:rPr>
              <a:t>newdata/</a:t>
            </a:r>
          </a:p>
        </p:txBody>
      </p:sp>
      <p:sp>
        <p:nvSpPr>
          <p:cNvPr id="20" name="store-sub-1">
            <a:extLst xmlns:a="http://schemas.openxmlformats.org/drawingml/2006/main">
              <a:ext uri="{FF2B5EF4-FFF2-40B4-BE49-F238E27FC236}">
                <a16:creationId xmlns:a16="http://schemas.microsoft.com/office/drawing/2014/main" id="{57B60565-95C5-4646-8B87-A5BD29832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24275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Newdatabase/ · olddata/ · train/val/test CSV</a:t>
            </a:r>
          </a:p>
        </p:txBody>
      </p:sp>
      <p:sp>
        <p:nvSpPr>
          <p:cNvPr id="21" name="store-body-1">
            <a:extLst xmlns:a="http://schemas.openxmlformats.org/drawingml/2006/main">
              <a:ext uri="{FF2B5EF4-FFF2-40B4-BE49-F238E27FC236}">
                <a16:creationId xmlns:a16="http://schemas.microsoft.com/office/drawing/2014/main" id="{8C5A785D-0BB6-43CA-91B8-4FEFCA715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048125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</a:defRPr>
            </a:pPr>
            <a:r>
              <a:rPr sz="1200" b="0">
                <a:solidFill>
                  <a:srgbClr val="666666"/>
                </a:solidFill>
              </a:rPr>
              <a:t>当前训练数据入口；同时保存波形库、小波图、特征表和历史数据版本。</a:t>
            </a:r>
          </a:p>
        </p:txBody>
      </p:sp>
      <p:sp>
        <p:nvSpPr>
          <p:cNvPr id="22" name="store-path-2">
            <a:extLst xmlns:a="http://schemas.openxmlformats.org/drawingml/2006/main">
              <a:ext uri="{FF2B5EF4-FFF2-40B4-BE49-F238E27FC236}">
                <a16:creationId xmlns:a16="http://schemas.microsoft.com/office/drawing/2014/main" id="{58077CE3-9E95-4D42-B2A5-D08CC4782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5720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64A2B"/>
                </a:solidFill>
              </a:defRPr>
            </a:pPr>
            <a:r>
              <a:rPr sz="1350" b="0">
                <a:solidFill>
                  <a:srgbClr val="B64A2B"/>
                </a:solidFill>
              </a:rPr>
              <a:t>数据集/</a:t>
            </a:r>
          </a:p>
        </p:txBody>
      </p:sp>
      <p:sp>
        <p:nvSpPr>
          <p:cNvPr id="23" name="store-sub-2">
            <a:extLst xmlns:a="http://schemas.openxmlformats.org/drawingml/2006/main">
              <a:ext uri="{FF2B5EF4-FFF2-40B4-BE49-F238E27FC236}">
                <a16:creationId xmlns:a16="http://schemas.microsoft.com/office/drawing/2014/main" id="{638F1369-A1A3-488D-AA37-14876844D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9149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newdata/</a:t>
            </a:r>
          </a:p>
        </p:txBody>
      </p:sp>
      <p:sp>
        <p:nvSpPr>
          <p:cNvPr id="24" name="store-body-2">
            <a:extLst xmlns:a="http://schemas.openxmlformats.org/drawingml/2006/main">
              <a:ext uri="{FF2B5EF4-FFF2-40B4-BE49-F238E27FC236}">
                <a16:creationId xmlns:a16="http://schemas.microsoft.com/office/drawing/2014/main" id="{633A8E28-6208-4BDD-A1BE-20E4FA4C3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2387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</a:defRPr>
            </a:pPr>
            <a:r>
              <a:rPr sz="1200" b="0">
                <a:solidFill>
                  <a:srgbClr val="666666"/>
                </a:solidFill>
              </a:rPr>
              <a:t>兼容旧脚本和历史路径的数据入口，使用时需避免与根目录 newdata/ 混淆。</a:t>
            </a:r>
          </a:p>
        </p:txBody>
      </p:sp>
      <p:sp>
        <p:nvSpPr>
          <p:cNvPr id="25" name="data-paper-bg">
            <a:extLst xmlns:a="http://schemas.openxmlformats.org/drawingml/2006/main">
              <a:ext uri="{FF2B5EF4-FFF2-40B4-BE49-F238E27FC236}">
                <a16:creationId xmlns:a16="http://schemas.microsoft.com/office/drawing/2014/main" id="{E56DA35A-5DEE-4530-9F75-438EFC0AB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72150"/>
            <a:ext cx="11182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data-paper-map">
            <a:extLst xmlns:a="http://schemas.openxmlformats.org/drawingml/2006/main">
              <a:ext uri="{FF2B5EF4-FFF2-40B4-BE49-F238E27FC236}">
                <a16:creationId xmlns:a16="http://schemas.microsoft.com/office/drawing/2014/main" id="{8994763C-7943-45A2-9886-7AE18E20B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8645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论文对应：第 3 章“数据集与问题定义”说明数据来源、结构样本、地震动处理、划分与预测目标。</a:t>
            </a:r>
          </a:p>
        </p:txBody>
      </p:sp>
      <p:sp>
        <p:nvSpPr>
          <p:cNvPr id="27" name="footer-project-2">
            <a:extLst xmlns:a="http://schemas.openxmlformats.org/drawingml/2006/main">
              <a:ext uri="{FF2B5EF4-FFF2-40B4-BE49-F238E27FC236}">
                <a16:creationId xmlns:a16="http://schemas.microsoft.com/office/drawing/2014/main" id="{0E1D0977-85DD-42C1-8B4B-21C319B1A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3238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6666"/>
                </a:solidFill>
              </a:defRPr>
            </a:pPr>
            <a:r>
              <a:rPr sz="825" b="0">
                <a:solidFill>
                  <a:srgbClr val="666666"/>
                </a:solidFill>
              </a:rPr>
              <a:t>5080train / PROJECT STRUCTURE</a:t>
            </a:r>
          </a:p>
        </p:txBody>
      </p:sp>
      <p:sp>
        <p:nvSpPr>
          <p:cNvPr id="28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20BCCF6A-1B12-4EC8-8E49-BFB6F17E7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008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111111"/>
                </a:solidFill>
              </a:defRPr>
            </a:pPr>
            <a:r>
              <a:rPr sz="900" b="0">
                <a:solidFill>
                  <a:srgbClr val="111111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81661254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-3">
            <a:extLst xmlns:a="http://schemas.openxmlformats.org/drawingml/2006/main">
              <a:ext uri="{FF2B5EF4-FFF2-40B4-BE49-F238E27FC236}">
                <a16:creationId xmlns:a16="http://schemas.microsoft.com/office/drawing/2014/main" id="{0EA38F3A-BC1D-47B1-8C48-D97C715FF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64A2B"/>
                </a:solidFill>
              </a:defRPr>
            </a:pPr>
            <a:r>
              <a:rPr sz="975" b="1">
                <a:solidFill>
                  <a:srgbClr val="B64A2B"/>
                </a:solidFill>
              </a:rPr>
              <a:t>02 / MODELS &amp; OUTPUTS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13F75194-49C6-4647-9AB1-F460A85E7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111"/>
                </a:solidFill>
              </a:defRPr>
            </a:pPr>
            <a:r>
              <a:rPr sz="2625" b="1">
                <a:solidFill>
                  <a:srgbClr val="111111"/>
                </a:solidFill>
              </a:rPr>
              <a:t>模型层：主模型、对比基线与结果目录</a:t>
            </a:r>
          </a:p>
        </p:txBody>
      </p:sp>
      <p:sp>
        <p:nvSpPr>
          <p:cNvPr id="3" name="title-rule-3">
            <a:extLst xmlns:a="http://schemas.openxmlformats.org/drawingml/2006/main">
              <a:ext uri="{FF2B5EF4-FFF2-40B4-BE49-F238E27FC236}">
                <a16:creationId xmlns:a16="http://schemas.microsoft.com/office/drawing/2014/main" id="{1AD8BB14-0057-4680-9518-3DC691BFA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525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7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model-title-0">
            <a:extLst xmlns:a="http://schemas.openxmlformats.org/drawingml/2006/main">
              <a:ext uri="{FF2B5EF4-FFF2-40B4-BE49-F238E27FC236}">
                <a16:creationId xmlns:a16="http://schemas.microsoft.com/office/drawing/2014/main" id="{C9D9B55B-3311-4B44-8B33-54B739C37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621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</a:defRPr>
            </a:pPr>
            <a:r>
              <a:rPr sz="1575" b="1">
                <a:solidFill>
                  <a:srgbClr val="111111"/>
                </a:solidFill>
              </a:rPr>
              <a:t>公共数据与特征接口</a:t>
            </a:r>
          </a:p>
        </p:txBody>
      </p:sp>
      <p:sp>
        <p:nvSpPr>
          <p:cNvPr id="5" name="model-path-0">
            <a:extLst xmlns:a="http://schemas.openxmlformats.org/drawingml/2006/main">
              <a:ext uri="{FF2B5EF4-FFF2-40B4-BE49-F238E27FC236}">
                <a16:creationId xmlns:a16="http://schemas.microsoft.com/office/drawing/2014/main" id="{941BC304-C863-4EC6-8953-A213426F5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571625"/>
            <a:ext cx="5286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floors_3_to_7_utils.py · tabular_model_common.py · sequence_model_common.py</a:t>
            </a:r>
          </a:p>
        </p:txBody>
      </p:sp>
      <p:sp>
        <p:nvSpPr>
          <p:cNvPr id="6" name="model-body-0">
            <a:extLst xmlns:a="http://schemas.openxmlformats.org/drawingml/2006/main">
              <a:ext uri="{FF2B5EF4-FFF2-40B4-BE49-F238E27FC236}">
                <a16:creationId xmlns:a16="http://schemas.microsoft.com/office/drawing/2014/main" id="{383C7357-DBBD-4738-A7C9-C9DC48A6C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543050"/>
            <a:ext cx="3000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</a:defRPr>
            </a:pPr>
            <a:r>
              <a:rPr sz="1200" b="0">
                <a:solidFill>
                  <a:srgbClr val="666666"/>
                </a:solidFill>
              </a:rPr>
              <a:t>统一楼层范围、特征构造、标签缩放、指标计算、序列读取和训练公共逻辑。</a:t>
            </a:r>
          </a:p>
        </p:txBody>
      </p:sp>
      <p:sp>
        <p:nvSpPr>
          <p:cNvPr id="7" name="model-rule-0">
            <a:extLst xmlns:a="http://schemas.openxmlformats.org/drawingml/2006/main">
              <a:ext uri="{FF2B5EF4-FFF2-40B4-BE49-F238E27FC236}">
                <a16:creationId xmlns:a16="http://schemas.microsoft.com/office/drawing/2014/main" id="{D705CEB1-B912-4952-95C8-41658F8E5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09800"/>
            <a:ext cx="11182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7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model-title-1">
            <a:extLst xmlns:a="http://schemas.openxmlformats.org/drawingml/2006/main">
              <a:ext uri="{FF2B5EF4-FFF2-40B4-BE49-F238E27FC236}">
                <a16:creationId xmlns:a16="http://schemas.microsoft.com/office/drawing/2014/main" id="{53D4008E-6EA5-4182-87AC-A29CFFCED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003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</a:defRPr>
            </a:pPr>
            <a:r>
              <a:rPr sz="1575" b="1">
                <a:solidFill>
                  <a:srgbClr val="111111"/>
                </a:solidFill>
              </a:rPr>
              <a:t>多模态主模型</a:t>
            </a:r>
          </a:p>
        </p:txBody>
      </p:sp>
      <p:sp>
        <p:nvSpPr>
          <p:cNvPr id="9" name="model-path-1">
            <a:extLst xmlns:a="http://schemas.openxmlformats.org/drawingml/2006/main">
              <a:ext uri="{FF2B5EF4-FFF2-40B4-BE49-F238E27FC236}">
                <a16:creationId xmlns:a16="http://schemas.microsoft.com/office/drawing/2014/main" id="{7C479DCB-D521-4041-B66F-8619FFBBD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409825"/>
            <a:ext cx="5286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64A2B"/>
                </a:solidFill>
              </a:defRPr>
            </a:pPr>
            <a:r>
              <a:rPr sz="1200" b="0">
                <a:solidFill>
                  <a:srgbClr val="B64A2B"/>
                </a:solidFill>
              </a:rPr>
              <a:t>2dcnnv1/ → 2dcnnv1.py · 2dcnnv1test.py · 启动训练/测试.bat</a:t>
            </a:r>
          </a:p>
        </p:txBody>
      </p:sp>
      <p:sp>
        <p:nvSpPr>
          <p:cNvPr id="10" name="model-body-1">
            <a:extLst xmlns:a="http://schemas.openxmlformats.org/drawingml/2006/main">
              <a:ext uri="{FF2B5EF4-FFF2-40B4-BE49-F238E27FC236}">
                <a16:creationId xmlns:a16="http://schemas.microsoft.com/office/drawing/2014/main" id="{93DF9942-81C3-4549-AE8F-8913671F3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81250"/>
            <a:ext cx="3000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</a:defRPr>
            </a:pPr>
            <a:r>
              <a:rPr sz="1200" b="0">
                <a:solidFill>
                  <a:srgbClr val="666666"/>
                </a:solidFill>
              </a:rPr>
              <a:t>融合小波时频图与结构/地震动标量特征，是论文的核心 2D-CNN 模型。</a:t>
            </a:r>
          </a:p>
        </p:txBody>
      </p:sp>
      <p:sp>
        <p:nvSpPr>
          <p:cNvPr id="11" name="model-rule-1">
            <a:extLst xmlns:a="http://schemas.openxmlformats.org/drawingml/2006/main">
              <a:ext uri="{FF2B5EF4-FFF2-40B4-BE49-F238E27FC236}">
                <a16:creationId xmlns:a16="http://schemas.microsoft.com/office/drawing/2014/main" id="{5F53E2A2-C571-4C7C-BA97-7A26BB333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11182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7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model-title-2">
            <a:extLst xmlns:a="http://schemas.openxmlformats.org/drawingml/2006/main">
              <a:ext uri="{FF2B5EF4-FFF2-40B4-BE49-F238E27FC236}">
                <a16:creationId xmlns:a16="http://schemas.microsoft.com/office/drawing/2014/main" id="{4D537468-2B7D-4612-8E70-65A6D4104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</a:defRPr>
            </a:pPr>
            <a:r>
              <a:rPr sz="1575" b="1">
                <a:solidFill>
                  <a:srgbClr val="111111"/>
                </a:solidFill>
              </a:rPr>
              <a:t>时序深度学习基线</a:t>
            </a:r>
          </a:p>
        </p:txBody>
      </p:sp>
      <p:sp>
        <p:nvSpPr>
          <p:cNvPr id="13" name="model-path-2">
            <a:extLst xmlns:a="http://schemas.openxmlformats.org/drawingml/2006/main">
              <a:ext uri="{FF2B5EF4-FFF2-40B4-BE49-F238E27FC236}">
                <a16:creationId xmlns:a16="http://schemas.microsoft.com/office/drawing/2014/main" id="{4F4726CD-D1E7-4FB6-A4C7-D56D3F1EA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248025"/>
            <a:ext cx="5286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lstmv1/ · wavenetv1/</a:t>
            </a:r>
          </a:p>
        </p:txBody>
      </p:sp>
      <p:sp>
        <p:nvSpPr>
          <p:cNvPr id="14" name="model-body-2">
            <a:extLst xmlns:a="http://schemas.openxmlformats.org/drawingml/2006/main">
              <a:ext uri="{FF2B5EF4-FFF2-40B4-BE49-F238E27FC236}">
                <a16:creationId xmlns:a16="http://schemas.microsoft.com/office/drawing/2014/main" id="{1EC893A8-2B8C-47CB-9E60-245DC3F89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19450"/>
            <a:ext cx="3000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</a:defRPr>
            </a:pPr>
            <a:r>
              <a:rPr sz="1200" b="0">
                <a:solidFill>
                  <a:srgbClr val="666666"/>
                </a:solidFill>
              </a:rPr>
              <a:t>每个目录均含训练脚本、测试脚本和 BAT；用于验证原始波形序列建模能力。</a:t>
            </a:r>
          </a:p>
        </p:txBody>
      </p:sp>
      <p:sp>
        <p:nvSpPr>
          <p:cNvPr id="15" name="model-rule-2">
            <a:extLst xmlns:a="http://schemas.openxmlformats.org/drawingml/2006/main">
              <a:ext uri="{FF2B5EF4-FFF2-40B4-BE49-F238E27FC236}">
                <a16:creationId xmlns:a16="http://schemas.microsoft.com/office/drawing/2014/main" id="{26F59468-AFEB-4042-8D2A-6C7E3302D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86200"/>
            <a:ext cx="11182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7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model-title-3">
            <a:extLst xmlns:a="http://schemas.openxmlformats.org/drawingml/2006/main">
              <a:ext uri="{FF2B5EF4-FFF2-40B4-BE49-F238E27FC236}">
                <a16:creationId xmlns:a16="http://schemas.microsoft.com/office/drawing/2014/main" id="{22334EE4-C58B-4439-B969-8A22B0FAF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767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</a:defRPr>
            </a:pPr>
            <a:r>
              <a:rPr sz="1575" b="1">
                <a:solidFill>
                  <a:srgbClr val="111111"/>
                </a:solidFill>
              </a:rPr>
              <a:t>表格与 MLP 基线</a:t>
            </a:r>
          </a:p>
        </p:txBody>
      </p:sp>
      <p:sp>
        <p:nvSpPr>
          <p:cNvPr id="17" name="model-path-3">
            <a:extLst xmlns:a="http://schemas.openxmlformats.org/drawingml/2006/main">
              <a:ext uri="{FF2B5EF4-FFF2-40B4-BE49-F238E27FC236}">
                <a16:creationId xmlns:a16="http://schemas.microsoft.com/office/drawing/2014/main" id="{04C18B93-787B-4272-9C18-33797E5E7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086225"/>
            <a:ext cx="5286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randomforestv1/ · xgboostv1/ · lightgbmv1/ · catboostv1/ · mlpv1/</a:t>
            </a:r>
          </a:p>
        </p:txBody>
      </p:sp>
      <p:sp>
        <p:nvSpPr>
          <p:cNvPr id="18" name="model-body-3">
            <a:extLst xmlns:a="http://schemas.openxmlformats.org/drawingml/2006/main">
              <a:ext uri="{FF2B5EF4-FFF2-40B4-BE49-F238E27FC236}">
                <a16:creationId xmlns:a16="http://schemas.microsoft.com/office/drawing/2014/main" id="{FB841B31-5E4A-4A54-8CA1-57E216D56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3000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</a:defRPr>
            </a:pPr>
            <a:r>
              <a:rPr sz="1200" b="0">
                <a:solidFill>
                  <a:srgbClr val="666666"/>
                </a:solidFill>
              </a:rPr>
              <a:t>在统一工程特征上建立传统机器学习与全连接网络对照，保证模型比较完整。</a:t>
            </a:r>
          </a:p>
        </p:txBody>
      </p:sp>
      <p:sp>
        <p:nvSpPr>
          <p:cNvPr id="19" name="model-rule-3">
            <a:extLst xmlns:a="http://schemas.openxmlformats.org/drawingml/2006/main">
              <a:ext uri="{FF2B5EF4-FFF2-40B4-BE49-F238E27FC236}">
                <a16:creationId xmlns:a16="http://schemas.microsoft.com/office/drawing/2014/main" id="{068CFD59-F153-4584-8F7A-0A58EC167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24400"/>
            <a:ext cx="11182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7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model-title-4">
            <a:extLst xmlns:a="http://schemas.openxmlformats.org/drawingml/2006/main">
              <a:ext uri="{FF2B5EF4-FFF2-40B4-BE49-F238E27FC236}">
                <a16:creationId xmlns:a16="http://schemas.microsoft.com/office/drawing/2014/main" id="{5F44D0E1-527B-4EE7-9CF6-A15EB0AAD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149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</a:defRPr>
            </a:pPr>
            <a:r>
              <a:rPr sz="1575" b="1">
                <a:solidFill>
                  <a:srgbClr val="111111"/>
                </a:solidFill>
              </a:rPr>
              <a:t>训练结果与历史归档</a:t>
            </a:r>
          </a:p>
        </p:txBody>
      </p:sp>
      <p:sp>
        <p:nvSpPr>
          <p:cNvPr id="21" name="model-path-4">
            <a:extLst xmlns:a="http://schemas.openxmlformats.org/drawingml/2006/main">
              <a:ext uri="{FF2B5EF4-FFF2-40B4-BE49-F238E27FC236}">
                <a16:creationId xmlns:a16="http://schemas.microsoft.com/office/drawing/2014/main" id="{965208AF-8FF8-43C4-AADB-444E24572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924425"/>
            <a:ext cx="5286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output/&lt;model&gt;/ · output/归档/ · output/paper_render/</a:t>
            </a:r>
          </a:p>
        </p:txBody>
      </p:sp>
      <p:sp>
        <p:nvSpPr>
          <p:cNvPr id="22" name="model-body-4">
            <a:extLst xmlns:a="http://schemas.openxmlformats.org/drawingml/2006/main">
              <a:ext uri="{FF2B5EF4-FFF2-40B4-BE49-F238E27FC236}">
                <a16:creationId xmlns:a16="http://schemas.microsoft.com/office/drawing/2014/main" id="{77338316-2687-437E-9154-278BB8931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895850"/>
            <a:ext cx="3000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</a:defRPr>
            </a:pPr>
            <a:r>
              <a:rPr sz="1200" b="0">
                <a:solidFill>
                  <a:srgbClr val="666666"/>
                </a:solidFill>
              </a:rPr>
              <a:t>按模型保存权重、日志、预测和图表；旧 2D-CNN 版本结果仅作为历史记录保留。</a:t>
            </a:r>
          </a:p>
        </p:txBody>
      </p:sp>
      <p:sp>
        <p:nvSpPr>
          <p:cNvPr id="23" name="model-paper-bg">
            <a:extLst xmlns:a="http://schemas.openxmlformats.org/drawingml/2006/main">
              <a:ext uri="{FF2B5EF4-FFF2-40B4-BE49-F238E27FC236}">
                <a16:creationId xmlns:a16="http://schemas.microsoft.com/office/drawing/2014/main" id="{C36ACF3D-19DE-4535-B7E8-87C6DDBF1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72150"/>
            <a:ext cx="11182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model-paper-map">
            <a:extLst xmlns:a="http://schemas.openxmlformats.org/drawingml/2006/main">
              <a:ext uri="{FF2B5EF4-FFF2-40B4-BE49-F238E27FC236}">
                <a16:creationId xmlns:a16="http://schemas.microsoft.com/office/drawing/2014/main" id="{57C836F1-77EF-450A-A450-0442D7094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8645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论文对应：第 2 章介绍模型谱系，第 4 章给出多模态 2D-CNN 与基线方法，第 6 章引用 output 与评估目录中的最终结果。</a:t>
            </a:r>
          </a:p>
        </p:txBody>
      </p:sp>
      <p:sp>
        <p:nvSpPr>
          <p:cNvPr id="25" name="footer-project-3">
            <a:extLst xmlns:a="http://schemas.openxmlformats.org/drawingml/2006/main">
              <a:ext uri="{FF2B5EF4-FFF2-40B4-BE49-F238E27FC236}">
                <a16:creationId xmlns:a16="http://schemas.microsoft.com/office/drawing/2014/main" id="{A770E0ED-CB78-4F13-BD3F-7F53B14E0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3238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6666"/>
                </a:solidFill>
              </a:defRPr>
            </a:pPr>
            <a:r>
              <a:rPr sz="825" b="0">
                <a:solidFill>
                  <a:srgbClr val="666666"/>
                </a:solidFill>
              </a:rPr>
              <a:t>5080train / PROJECT STRUCTURE</a:t>
            </a:r>
          </a:p>
        </p:txBody>
      </p:sp>
      <p:sp>
        <p:nvSpPr>
          <p:cNvPr id="26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196BE3A1-F479-43FE-898E-1220B58BD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008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111111"/>
                </a:solidFill>
              </a:defRPr>
            </a:pPr>
            <a:r>
              <a:rPr sz="900" b="0">
                <a:solidFill>
                  <a:srgbClr val="111111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3795091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-4">
            <a:extLst xmlns:a="http://schemas.openxmlformats.org/drawingml/2006/main">
              <a:ext uri="{FF2B5EF4-FFF2-40B4-BE49-F238E27FC236}">
                <a16:creationId xmlns:a16="http://schemas.microsoft.com/office/drawing/2014/main" id="{345718D2-121F-44E4-9DA8-51CC35AC4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64A2B"/>
                </a:solidFill>
              </a:defRPr>
            </a:pPr>
            <a:r>
              <a:rPr sz="975" b="1">
                <a:solidFill>
                  <a:srgbClr val="B64A2B"/>
                </a:solidFill>
              </a:rPr>
              <a:t>03 / EXPERIMENT &amp; EVIDENCE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DF6D5FA3-7D4F-40D9-B3F5-96B35141A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111"/>
                </a:solidFill>
              </a:defRPr>
            </a:pPr>
            <a:r>
              <a:rPr sz="2625" b="1">
                <a:solidFill>
                  <a:srgbClr val="111111"/>
                </a:solidFill>
              </a:rPr>
              <a:t>实验层：调参脚本如何转化为发表级证据</a:t>
            </a:r>
          </a:p>
        </p:txBody>
      </p:sp>
      <p:sp>
        <p:nvSpPr>
          <p:cNvPr id="3" name="title-rule-4">
            <a:extLst xmlns:a="http://schemas.openxmlformats.org/drawingml/2006/main">
              <a:ext uri="{FF2B5EF4-FFF2-40B4-BE49-F238E27FC236}">
                <a16:creationId xmlns:a16="http://schemas.microsoft.com/office/drawing/2014/main" id="{7CF1A1E8-3E86-4BA8-ADC2-FB658FCD7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525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7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eval-left-head">
            <a:extLst xmlns:a="http://schemas.openxmlformats.org/drawingml/2006/main">
              <a:ext uri="{FF2B5EF4-FFF2-40B4-BE49-F238E27FC236}">
                <a16:creationId xmlns:a16="http://schemas.microsoft.com/office/drawing/2014/main" id="{6D5A3FDB-DB45-47A8-9D52-BDFE8C654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457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update/：调参与实验编排</a:t>
            </a:r>
          </a:p>
        </p:txBody>
      </p:sp>
      <p:sp>
        <p:nvSpPr>
          <p:cNvPr id="5" name="eval-left-path">
            <a:extLst xmlns:a="http://schemas.openxmlformats.org/drawingml/2006/main">
              <a:ext uri="{FF2B5EF4-FFF2-40B4-BE49-F238E27FC236}">
                <a16:creationId xmlns:a16="http://schemas.microsoft.com/office/drawing/2014/main" id="{FDCD15B9-D563-404B-A09E-1CDF88C3B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33600"/>
            <a:ext cx="457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64A2B"/>
                </a:solidFill>
              </a:defRPr>
            </a:pPr>
            <a:r>
              <a:rPr sz="1200" b="0">
                <a:solidFill>
                  <a:srgbClr val="B64A2B"/>
                </a:solidFill>
              </a:rPr>
              <a:t>算法子目录 · common/ · run_logs/ · test_runs/</a:t>
            </a:r>
          </a:p>
        </p:txBody>
      </p:sp>
      <p:sp>
        <p:nvSpPr>
          <p:cNvPr id="6" name="control-title-0">
            <a:extLst xmlns:a="http://schemas.openxmlformats.org/drawingml/2006/main">
              <a:ext uri="{FF2B5EF4-FFF2-40B4-BE49-F238E27FC236}">
                <a16:creationId xmlns:a16="http://schemas.microsoft.com/office/drawing/2014/main" id="{4F6CC5F1-B3ED-4EE6-89A2-CB11FB40C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24150"/>
            <a:ext cx="1762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算法子目录</a:t>
            </a:r>
          </a:p>
        </p:txBody>
      </p:sp>
      <p:sp>
        <p:nvSpPr>
          <p:cNvPr id="7" name="control-body-0">
            <a:extLst xmlns:a="http://schemas.openxmlformats.org/drawingml/2006/main">
              <a:ext uri="{FF2B5EF4-FFF2-40B4-BE49-F238E27FC236}">
                <a16:creationId xmlns:a16="http://schemas.microsoft.com/office/drawing/2014/main" id="{52D7CCD9-FA0E-49A6-9EC8-00C988F25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705100"/>
            <a:ext cx="266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</a:defRPr>
            </a:pPr>
            <a:r>
              <a:rPr sz="1200" b="0">
                <a:solidFill>
                  <a:srgbClr val="666666"/>
                </a:solidFill>
              </a:rPr>
              <a:t>tune_optuna_tpe.py 定义搜索空间；common/ 维护复用的 Optuna/TPE 逻辑。</a:t>
            </a:r>
          </a:p>
        </p:txBody>
      </p:sp>
      <p:sp>
        <p:nvSpPr>
          <p:cNvPr id="8" name="control-rule-0">
            <a:extLst xmlns:a="http://schemas.openxmlformats.org/drawingml/2006/main">
              <a:ext uri="{FF2B5EF4-FFF2-40B4-BE49-F238E27FC236}">
                <a16:creationId xmlns:a16="http://schemas.microsoft.com/office/drawing/2014/main" id="{88D77813-C290-43CB-8F91-2C881BDDB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09950"/>
            <a:ext cx="4533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7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ontrol-title-1">
            <a:extLst xmlns:a="http://schemas.openxmlformats.org/drawingml/2006/main">
              <a:ext uri="{FF2B5EF4-FFF2-40B4-BE49-F238E27FC236}">
                <a16:creationId xmlns:a16="http://schemas.microsoft.com/office/drawing/2014/main" id="{954136A0-19D4-483F-BA65-A15B83CBE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05225"/>
            <a:ext cx="1762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运行记录</a:t>
            </a:r>
          </a:p>
        </p:txBody>
      </p:sp>
      <p:sp>
        <p:nvSpPr>
          <p:cNvPr id="10" name="control-body-1">
            <a:extLst xmlns:a="http://schemas.openxmlformats.org/drawingml/2006/main">
              <a:ext uri="{FF2B5EF4-FFF2-40B4-BE49-F238E27FC236}">
                <a16:creationId xmlns:a16="http://schemas.microsoft.com/office/drawing/2014/main" id="{D10FEA96-1C80-4402-A232-648F741FD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686175"/>
            <a:ext cx="266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</a:defRPr>
            </a:pPr>
            <a:r>
              <a:rPr sz="1200" b="0">
                <a:solidFill>
                  <a:srgbClr val="666666"/>
                </a:solidFill>
              </a:rPr>
              <a:t>run_logs/、test_runs/ 保存调参与轻量验证过程，便于追踪失败和预算。</a:t>
            </a:r>
          </a:p>
        </p:txBody>
      </p:sp>
      <p:sp>
        <p:nvSpPr>
          <p:cNvPr id="11" name="control-rule-1">
            <a:extLst xmlns:a="http://schemas.openxmlformats.org/drawingml/2006/main">
              <a:ext uri="{FF2B5EF4-FFF2-40B4-BE49-F238E27FC236}">
                <a16:creationId xmlns:a16="http://schemas.microsoft.com/office/drawing/2014/main" id="{0666C7A1-941B-4B62-83CE-F44565168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91025"/>
            <a:ext cx="4533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7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control-title-2">
            <a:extLst xmlns:a="http://schemas.openxmlformats.org/drawingml/2006/main">
              <a:ext uri="{FF2B5EF4-FFF2-40B4-BE49-F238E27FC236}">
                <a16:creationId xmlns:a16="http://schemas.microsoft.com/office/drawing/2014/main" id="{4A734CF2-DFA0-42AA-86F6-5BD8B6816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86300"/>
            <a:ext cx="1762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顶层脚本</a:t>
            </a:r>
          </a:p>
        </p:txBody>
      </p:sp>
      <p:sp>
        <p:nvSpPr>
          <p:cNvPr id="13" name="control-body-2">
            <a:extLst xmlns:a="http://schemas.openxmlformats.org/drawingml/2006/main">
              <a:ext uri="{FF2B5EF4-FFF2-40B4-BE49-F238E27FC236}">
                <a16:creationId xmlns:a16="http://schemas.microsoft.com/office/drawing/2014/main" id="{E34C794C-8482-4AC9-A226-370A1610B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667250"/>
            <a:ext cx="266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</a:defRPr>
            </a:pPr>
            <a:r>
              <a:rPr sz="1200" b="0">
                <a:solidFill>
                  <a:srgbClr val="666666"/>
                </a:solidFill>
              </a:rPr>
              <a:t>协议锁定、HPO、多随机种子、消融、统计、论文表格与图形均由此统一生成。</a:t>
            </a:r>
          </a:p>
        </p:txBody>
      </p:sp>
      <p:sp>
        <p:nvSpPr>
          <p:cNvPr id="14" name="eval-divider">
            <a:extLst xmlns:a="http://schemas.openxmlformats.org/drawingml/2006/main">
              <a:ext uri="{FF2B5EF4-FFF2-40B4-BE49-F238E27FC236}">
                <a16:creationId xmlns:a16="http://schemas.microsoft.com/office/drawing/2014/main" id="{5078C6B4-557C-422A-9F27-849D00DBD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676400"/>
            <a:ext cx="9525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7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eval-right-head">
            <a:extLst xmlns:a="http://schemas.openxmlformats.org/drawingml/2006/main">
              <a:ext uri="{FF2B5EF4-FFF2-40B4-BE49-F238E27FC236}">
                <a16:creationId xmlns:a16="http://schemas.microsoft.com/office/drawing/2014/main" id="{262FF789-2DF7-4250-BEE4-757A40D0B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676400"/>
            <a:ext cx="5467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publication_eval_20260614/</a:t>
            </a:r>
          </a:p>
        </p:txBody>
      </p:sp>
      <p:sp>
        <p:nvSpPr>
          <p:cNvPr id="16" name="eval-right-path">
            <a:extLst xmlns:a="http://schemas.openxmlformats.org/drawingml/2006/main">
              <a:ext uri="{FF2B5EF4-FFF2-40B4-BE49-F238E27FC236}">
                <a16:creationId xmlns:a16="http://schemas.microsoft.com/office/drawing/2014/main" id="{58878484-2E26-426D-9849-2192515AB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133600"/>
            <a:ext cx="546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64A2B"/>
                </a:solidFill>
              </a:defRPr>
            </a:pPr>
            <a:r>
              <a:rPr sz="1200" b="0">
                <a:solidFill>
                  <a:srgbClr val="B64A2B"/>
                </a:solidFill>
              </a:rPr>
              <a:t>最终证据库：协议、结果、稳健性与论文资产</a:t>
            </a:r>
          </a:p>
        </p:txBody>
      </p:sp>
      <p:sp>
        <p:nvSpPr>
          <p:cNvPr id="17" name="evidence-path-0">
            <a:extLst xmlns:a="http://schemas.openxmlformats.org/drawingml/2006/main">
              <a:ext uri="{FF2B5EF4-FFF2-40B4-BE49-F238E27FC236}">
                <a16:creationId xmlns:a16="http://schemas.microsoft.com/office/drawing/2014/main" id="{77F207EB-0179-483D-A732-435D1A5BB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647950"/>
            <a:ext cx="2619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protocol/ · data_audit/</a:t>
            </a:r>
          </a:p>
        </p:txBody>
      </p:sp>
      <p:sp>
        <p:nvSpPr>
          <p:cNvPr id="18" name="evidence-label-0">
            <a:extLst xmlns:a="http://schemas.openxmlformats.org/drawingml/2006/main">
              <a:ext uri="{FF2B5EF4-FFF2-40B4-BE49-F238E27FC236}">
                <a16:creationId xmlns:a16="http://schemas.microsoft.com/office/drawing/2014/main" id="{343A34C4-D0E8-414D-9622-98CDF4A8F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028950"/>
            <a:ext cx="257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</a:defRPr>
            </a:pPr>
            <a:r>
              <a:rPr sz="1200" b="0">
                <a:solidFill>
                  <a:srgbClr val="666666"/>
                </a:solidFill>
              </a:rPr>
              <a:t>固定协议、数据清单、泄漏与分布审计</a:t>
            </a:r>
          </a:p>
        </p:txBody>
      </p:sp>
      <p:sp>
        <p:nvSpPr>
          <p:cNvPr id="19" name="evidence-path-1">
            <a:extLst xmlns:a="http://schemas.openxmlformats.org/drawingml/2006/main">
              <a:ext uri="{FF2B5EF4-FFF2-40B4-BE49-F238E27FC236}">
                <a16:creationId xmlns:a16="http://schemas.microsoft.com/office/drawing/2014/main" id="{58C49280-ED88-4CEE-8500-5430DFEFB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647950"/>
            <a:ext cx="2619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hpo_audit/ · final_multiseed/</a:t>
            </a:r>
          </a:p>
        </p:txBody>
      </p:sp>
      <p:sp>
        <p:nvSpPr>
          <p:cNvPr id="20" name="evidence-label-1">
            <a:extLst xmlns:a="http://schemas.openxmlformats.org/drawingml/2006/main">
              <a:ext uri="{FF2B5EF4-FFF2-40B4-BE49-F238E27FC236}">
                <a16:creationId xmlns:a16="http://schemas.microsoft.com/office/drawing/2014/main" id="{2E3816B8-6F9B-4775-BA98-26B265254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028950"/>
            <a:ext cx="257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</a:defRPr>
            </a:pPr>
            <a:r>
              <a:rPr sz="1200" b="0">
                <a:solidFill>
                  <a:srgbClr val="666666"/>
                </a:solidFill>
              </a:rPr>
              <a:t>调参公平性与最终多种子结果</a:t>
            </a:r>
          </a:p>
        </p:txBody>
      </p:sp>
      <p:sp>
        <p:nvSpPr>
          <p:cNvPr id="21" name="evidence-path-2">
            <a:extLst xmlns:a="http://schemas.openxmlformats.org/drawingml/2006/main">
              <a:ext uri="{FF2B5EF4-FFF2-40B4-BE49-F238E27FC236}">
                <a16:creationId xmlns:a16="http://schemas.microsoft.com/office/drawing/2014/main" id="{0F8B5B4E-54F7-4080-92FE-8A157FD26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390900"/>
            <a:ext cx="2619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ablations/ · statistics/</a:t>
            </a:r>
          </a:p>
        </p:txBody>
      </p:sp>
      <p:sp>
        <p:nvSpPr>
          <p:cNvPr id="22" name="evidence-label-2">
            <a:extLst xmlns:a="http://schemas.openxmlformats.org/drawingml/2006/main">
              <a:ext uri="{FF2B5EF4-FFF2-40B4-BE49-F238E27FC236}">
                <a16:creationId xmlns:a16="http://schemas.microsoft.com/office/drawing/2014/main" id="{AE0F0724-1B15-4C4A-B8B3-68747A3FF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771900"/>
            <a:ext cx="257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</a:defRPr>
            </a:pPr>
            <a:r>
              <a:rPr sz="1200" b="0">
                <a:solidFill>
                  <a:srgbClr val="666666"/>
                </a:solidFill>
              </a:rPr>
              <a:t>模态贡献、显著性与配对统计</a:t>
            </a:r>
          </a:p>
        </p:txBody>
      </p:sp>
      <p:sp>
        <p:nvSpPr>
          <p:cNvPr id="23" name="evidence-path-3">
            <a:extLst xmlns:a="http://schemas.openxmlformats.org/drawingml/2006/main">
              <a:ext uri="{FF2B5EF4-FFF2-40B4-BE49-F238E27FC236}">
                <a16:creationId xmlns:a16="http://schemas.microsoft.com/office/drawing/2014/main" id="{69CE7A90-E98E-4811-9067-330C73452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390900"/>
            <a:ext cx="2619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ood_benchmark/</a:t>
            </a:r>
          </a:p>
        </p:txBody>
      </p:sp>
      <p:sp>
        <p:nvSpPr>
          <p:cNvPr id="24" name="evidence-label-3">
            <a:extLst xmlns:a="http://schemas.openxmlformats.org/drawingml/2006/main">
              <a:ext uri="{FF2B5EF4-FFF2-40B4-BE49-F238E27FC236}">
                <a16:creationId xmlns:a16="http://schemas.microsoft.com/office/drawing/2014/main" id="{9D1DA339-BA6C-4630-A8BC-410749890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771900"/>
            <a:ext cx="257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</a:defRPr>
            </a:pPr>
            <a:r>
              <a:rPr sz="1200" b="0">
                <a:solidFill>
                  <a:srgbClr val="666666"/>
                </a:solidFill>
              </a:rPr>
              <a:t>未见地震波、未见结构与高漂移压力测试</a:t>
            </a:r>
          </a:p>
        </p:txBody>
      </p:sp>
      <p:sp>
        <p:nvSpPr>
          <p:cNvPr id="25" name="evidence-path-4">
            <a:extLst xmlns:a="http://schemas.openxmlformats.org/drawingml/2006/main">
              <a:ext uri="{FF2B5EF4-FFF2-40B4-BE49-F238E27FC236}">
                <a16:creationId xmlns:a16="http://schemas.microsoft.com/office/drawing/2014/main" id="{7C050B66-A704-4031-88E2-F6D06DF58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133850"/>
            <a:ext cx="2619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uncertainty/ · interpretability/</a:t>
            </a:r>
          </a:p>
        </p:txBody>
      </p:sp>
      <p:sp>
        <p:nvSpPr>
          <p:cNvPr id="26" name="evidence-label-4">
            <a:extLst xmlns:a="http://schemas.openxmlformats.org/drawingml/2006/main">
              <a:ext uri="{FF2B5EF4-FFF2-40B4-BE49-F238E27FC236}">
                <a16:creationId xmlns:a16="http://schemas.microsoft.com/office/drawing/2014/main" id="{8433820A-4DDE-48DB-9F1D-6FF16CE9B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514850"/>
            <a:ext cx="257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</a:defRPr>
            </a:pPr>
            <a:r>
              <a:rPr sz="1200" b="0">
                <a:solidFill>
                  <a:srgbClr val="666666"/>
                </a:solidFill>
              </a:rPr>
              <a:t>预测区间、校准、SHAP/PDP 与物理一致性</a:t>
            </a:r>
          </a:p>
        </p:txBody>
      </p:sp>
      <p:sp>
        <p:nvSpPr>
          <p:cNvPr id="27" name="evidence-path-5">
            <a:extLst xmlns:a="http://schemas.openxmlformats.org/drawingml/2006/main">
              <a:ext uri="{FF2B5EF4-FFF2-40B4-BE49-F238E27FC236}">
                <a16:creationId xmlns:a16="http://schemas.microsoft.com/office/drawing/2014/main" id="{FF173629-B2DA-4CDA-BB96-B9F0BE7B8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133850"/>
            <a:ext cx="2619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complexity/ · claim_calibration/</a:t>
            </a:r>
          </a:p>
        </p:txBody>
      </p:sp>
      <p:sp>
        <p:nvSpPr>
          <p:cNvPr id="28" name="evidence-label-5">
            <a:extLst xmlns:a="http://schemas.openxmlformats.org/drawingml/2006/main">
              <a:ext uri="{FF2B5EF4-FFF2-40B4-BE49-F238E27FC236}">
                <a16:creationId xmlns:a16="http://schemas.microsoft.com/office/drawing/2014/main" id="{B17E2A24-3E75-4627-908C-C737431F5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514850"/>
            <a:ext cx="257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</a:defRPr>
            </a:pPr>
            <a:r>
              <a:rPr sz="1200" b="0">
                <a:solidFill>
                  <a:srgbClr val="666666"/>
                </a:solidFill>
              </a:rPr>
              <a:t>运行复杂度与论文主张边界</a:t>
            </a:r>
          </a:p>
        </p:txBody>
      </p:sp>
      <p:sp>
        <p:nvSpPr>
          <p:cNvPr id="29" name="evidence-path-6">
            <a:extLst xmlns:a="http://schemas.openxmlformats.org/drawingml/2006/main">
              <a:ext uri="{FF2B5EF4-FFF2-40B4-BE49-F238E27FC236}">
                <a16:creationId xmlns:a16="http://schemas.microsoft.com/office/drawing/2014/main" id="{2E32ED2D-5856-456B-A697-BCAE62399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876800"/>
            <a:ext cx="2619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paper_tables/ · paper_figures/</a:t>
            </a:r>
          </a:p>
        </p:txBody>
      </p:sp>
      <p:sp>
        <p:nvSpPr>
          <p:cNvPr id="30" name="evidence-label-6">
            <a:extLst xmlns:a="http://schemas.openxmlformats.org/drawingml/2006/main">
              <a:ext uri="{FF2B5EF4-FFF2-40B4-BE49-F238E27FC236}">
                <a16:creationId xmlns:a16="http://schemas.microsoft.com/office/drawing/2014/main" id="{8DDB8481-EFC8-4F4B-87D1-00C7DD709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5257800"/>
            <a:ext cx="257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</a:defRPr>
            </a:pPr>
            <a:r>
              <a:rPr sz="1200" b="0">
                <a:solidFill>
                  <a:srgbClr val="666666"/>
                </a:solidFill>
              </a:rPr>
              <a:t>可直接进入论文的表格与图形</a:t>
            </a:r>
          </a:p>
        </p:txBody>
      </p:sp>
      <p:sp>
        <p:nvSpPr>
          <p:cNvPr id="31" name="evidence-path-7">
            <a:extLst xmlns:a="http://schemas.openxmlformats.org/drawingml/2006/main">
              <a:ext uri="{FF2B5EF4-FFF2-40B4-BE49-F238E27FC236}">
                <a16:creationId xmlns:a16="http://schemas.microsoft.com/office/drawing/2014/main" id="{EC7B7F4A-943C-44D0-9D01-5E6B204D1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876800"/>
            <a:ext cx="2619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paper_assets/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reproducibility_package/</a:t>
            </a:r>
          </a:p>
        </p:txBody>
      </p:sp>
      <p:sp>
        <p:nvSpPr>
          <p:cNvPr id="32" name="evidence-label-7">
            <a:extLst xmlns:a="http://schemas.openxmlformats.org/drawingml/2006/main">
              <a:ext uri="{FF2B5EF4-FFF2-40B4-BE49-F238E27FC236}">
                <a16:creationId xmlns:a16="http://schemas.microsoft.com/office/drawing/2014/main" id="{FA160518-BEBB-45BE-8FAF-36A5D45B4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5257800"/>
            <a:ext cx="257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</a:defRPr>
            </a:pPr>
            <a:r>
              <a:rPr sz="1200" b="0">
                <a:solidFill>
                  <a:srgbClr val="666666"/>
                </a:solidFill>
              </a:rPr>
              <a:t>资产清单、环境、模型卡与复现包</a:t>
            </a:r>
          </a:p>
        </p:txBody>
      </p:sp>
      <p:sp>
        <p:nvSpPr>
          <p:cNvPr id="33" name="eval-summary-bg">
            <a:extLst xmlns:a="http://schemas.openxmlformats.org/drawingml/2006/main">
              <a:ext uri="{FF2B5EF4-FFF2-40B4-BE49-F238E27FC236}">
                <a16:creationId xmlns:a16="http://schemas.microsoft.com/office/drawing/2014/main" id="{35AD5D5D-04EA-4DA1-B532-55A5021DC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5638800"/>
            <a:ext cx="5467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eval-summary">
            <a:extLst xmlns:a="http://schemas.openxmlformats.org/drawingml/2006/main">
              <a:ext uri="{FF2B5EF4-FFF2-40B4-BE49-F238E27FC236}">
                <a16:creationId xmlns:a16="http://schemas.microsoft.com/office/drawing/2014/main" id="{8CFA4430-8BA3-46DA-B960-9F5691310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762625"/>
            <a:ext cx="502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</a:defRPr>
            </a:pPr>
            <a:r>
              <a:rPr sz="1200" b="1">
                <a:solidFill>
                  <a:srgbClr val="111111"/>
                </a:solidFill>
              </a:rPr>
              <a:t>证据库把训练结果转化为可重复、可比较、可审查的论文结论。</a:t>
            </a:r>
          </a:p>
        </p:txBody>
      </p:sp>
      <p:sp>
        <p:nvSpPr>
          <p:cNvPr id="35" name="eval-paper-map">
            <a:extLst xmlns:a="http://schemas.openxmlformats.org/drawingml/2006/main">
              <a:ext uri="{FF2B5EF4-FFF2-40B4-BE49-F238E27FC236}">
                <a16:creationId xmlns:a16="http://schemas.microsoft.com/office/drawing/2014/main" id="{B8667576-0AE5-46DB-850D-9212ECA9F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53150"/>
            <a:ext cx="10839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</a:defRPr>
            </a:pPr>
            <a:r>
              <a:rPr sz="1200" b="0">
                <a:solidFill>
                  <a:srgbClr val="666666"/>
                </a:solidFill>
              </a:rPr>
              <a:t>论文对应：第 5 章实验设计与评价指标；第 6 章结果与分析；第 7 章讨论、适用边界与局限性。</a:t>
            </a:r>
          </a:p>
        </p:txBody>
      </p:sp>
      <p:sp>
        <p:nvSpPr>
          <p:cNvPr id="36" name="footer-project-4">
            <a:extLst xmlns:a="http://schemas.openxmlformats.org/drawingml/2006/main">
              <a:ext uri="{FF2B5EF4-FFF2-40B4-BE49-F238E27FC236}">
                <a16:creationId xmlns:a16="http://schemas.microsoft.com/office/drawing/2014/main" id="{C03EE0F1-4F74-4E3B-9B2A-76BAAF36E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3238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6666"/>
                </a:solidFill>
              </a:defRPr>
            </a:pPr>
            <a:r>
              <a:rPr sz="825" b="0">
                <a:solidFill>
                  <a:srgbClr val="666666"/>
                </a:solidFill>
              </a:rPr>
              <a:t>5080train / PROJECT STRUCTURE</a:t>
            </a:r>
          </a:p>
        </p:txBody>
      </p:sp>
      <p:sp>
        <p:nvSpPr>
          <p:cNvPr id="37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00E5879E-033C-4411-BB55-4C4385792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008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111111"/>
                </a:solidFill>
              </a:defRPr>
            </a:pPr>
            <a:r>
              <a:rPr sz="900" b="0">
                <a:solidFill>
                  <a:srgbClr val="111111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84612239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-5">
            <a:extLst xmlns:a="http://schemas.openxmlformats.org/drawingml/2006/main">
              <a:ext uri="{FF2B5EF4-FFF2-40B4-BE49-F238E27FC236}">
                <a16:creationId xmlns:a16="http://schemas.microsoft.com/office/drawing/2014/main" id="{BA893250-2030-4593-A362-4B984E7C7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64A2B"/>
                </a:solidFill>
              </a:defRPr>
            </a:pPr>
            <a:r>
              <a:rPr sz="975" b="1">
                <a:solidFill>
                  <a:srgbClr val="B64A2B"/>
                </a:solidFill>
              </a:rPr>
              <a:t>04 / DOCUMENTS &amp; DELIVERY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977D7A54-6F87-4197-8DF8-D7F71F541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111"/>
                </a:solidFill>
              </a:defRPr>
            </a:pPr>
            <a:r>
              <a:rPr sz="2625" b="1">
                <a:solidFill>
                  <a:srgbClr val="111111"/>
                </a:solidFill>
              </a:rPr>
              <a:t>写作与交付层：过程文档、草稿和最终论文</a:t>
            </a:r>
          </a:p>
        </p:txBody>
      </p:sp>
      <p:sp>
        <p:nvSpPr>
          <p:cNvPr id="3" name="title-rule-5">
            <a:extLst xmlns:a="http://schemas.openxmlformats.org/drawingml/2006/main">
              <a:ext uri="{FF2B5EF4-FFF2-40B4-BE49-F238E27FC236}">
                <a16:creationId xmlns:a16="http://schemas.microsoft.com/office/drawing/2014/main" id="{9050841C-7965-4723-83C7-05BF8185A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525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7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oc-path-0">
            <a:extLst xmlns:a="http://schemas.openxmlformats.org/drawingml/2006/main">
              <a:ext uri="{FF2B5EF4-FFF2-40B4-BE49-F238E27FC236}">
                <a16:creationId xmlns:a16="http://schemas.microsoft.com/office/drawing/2014/main" id="{D687F7BE-9BFD-40B4-AB7D-C44A59381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240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64A2B"/>
                </a:solidFill>
              </a:defRPr>
            </a:pPr>
            <a:r>
              <a:rPr sz="1425" b="0">
                <a:solidFill>
                  <a:srgbClr val="B64A2B"/>
                </a:solidFill>
              </a:rPr>
              <a:t>md_files/</a:t>
            </a:r>
          </a:p>
        </p:txBody>
      </p:sp>
      <p:sp>
        <p:nvSpPr>
          <p:cNvPr id="5" name="doc-sub-0">
            <a:extLst xmlns:a="http://schemas.openxmlformats.org/drawingml/2006/main">
              <a:ext uri="{FF2B5EF4-FFF2-40B4-BE49-F238E27FC236}">
                <a16:creationId xmlns:a16="http://schemas.microsoft.com/office/drawing/2014/main" id="{2BDB4933-081E-47A7-B380-4E6AC9570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5240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01_training_reports/ · 02_research_and_paper/ · 03_implementation_plans/ · 04_version_notes/</a:t>
            </a:r>
          </a:p>
        </p:txBody>
      </p:sp>
      <p:sp>
        <p:nvSpPr>
          <p:cNvPr id="6" name="doc-body-0">
            <a:extLst xmlns:a="http://schemas.openxmlformats.org/drawingml/2006/main">
              <a:ext uri="{FF2B5EF4-FFF2-40B4-BE49-F238E27FC236}">
                <a16:creationId xmlns:a16="http://schemas.microsoft.com/office/drawing/2014/main" id="{78B9987B-6858-430A-A6BD-01EE92995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504950"/>
            <a:ext cx="30003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</a:defRPr>
            </a:pPr>
            <a:r>
              <a:rPr sz="1200" b="0">
                <a:solidFill>
                  <a:srgbClr val="666666"/>
                </a:solidFill>
              </a:rPr>
              <a:t>训练记录、TODO1–16、实施方案与版本说明，是论文事实和决策的过程档案。</a:t>
            </a:r>
          </a:p>
        </p:txBody>
      </p:sp>
      <p:sp>
        <p:nvSpPr>
          <p:cNvPr id="7" name="doc-rule-0">
            <a:extLst xmlns:a="http://schemas.openxmlformats.org/drawingml/2006/main">
              <a:ext uri="{FF2B5EF4-FFF2-40B4-BE49-F238E27FC236}">
                <a16:creationId xmlns:a16="http://schemas.microsoft.com/office/drawing/2014/main" id="{1FDEABF4-B6D1-4E8E-9C53-775233213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05050"/>
            <a:ext cx="11182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7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doc-path-1">
            <a:extLst xmlns:a="http://schemas.openxmlformats.org/drawingml/2006/main">
              <a:ext uri="{FF2B5EF4-FFF2-40B4-BE49-F238E27FC236}">
                <a16:creationId xmlns:a16="http://schemas.microsoft.com/office/drawing/2014/main" id="{BFDCCA80-E82D-4A3E-96E3-0240D731B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336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64A2B"/>
                </a:solidFill>
              </a:defRPr>
            </a:pPr>
            <a:r>
              <a:rPr sz="1425" b="0">
                <a:solidFill>
                  <a:srgbClr val="B64A2B"/>
                </a:solidFill>
              </a:rPr>
              <a:t>草稿/</a:t>
            </a:r>
          </a:p>
        </p:txBody>
      </p:sp>
      <p:sp>
        <p:nvSpPr>
          <p:cNvPr id="9" name="doc-sub-1">
            <a:extLst xmlns:a="http://schemas.openxmlformats.org/drawingml/2006/main">
              <a:ext uri="{FF2B5EF4-FFF2-40B4-BE49-F238E27FC236}">
                <a16:creationId xmlns:a16="http://schemas.microsoft.com/office/drawing/2014/main" id="{963C4158-BC10-4069-A085-37CC2FCC8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53365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正文/ · 论文插图/ · 整合文档/</a:t>
            </a:r>
          </a:p>
        </p:txBody>
      </p:sp>
      <p:sp>
        <p:nvSpPr>
          <p:cNvPr id="10" name="doc-body-1">
            <a:extLst xmlns:a="http://schemas.openxmlformats.org/drawingml/2006/main">
              <a:ext uri="{FF2B5EF4-FFF2-40B4-BE49-F238E27FC236}">
                <a16:creationId xmlns:a16="http://schemas.microsoft.com/office/drawing/2014/main" id="{19B69FE3-A05B-4B32-88CF-3E9107995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14600"/>
            <a:ext cx="30003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</a:defRPr>
            </a:pPr>
            <a:r>
              <a:rPr sz="1200" b="0">
                <a:solidFill>
                  <a:srgbClr val="666666"/>
                </a:solidFill>
              </a:rPr>
              <a:t>正文/ 按 0–8 章拆分；论文插图/ 保存 PNG/SVG；整合文档/ 生成 Word/PDF 并做 QA。</a:t>
            </a:r>
          </a:p>
        </p:txBody>
      </p:sp>
      <p:sp>
        <p:nvSpPr>
          <p:cNvPr id="11" name="doc-rule-1">
            <a:extLst xmlns:a="http://schemas.openxmlformats.org/drawingml/2006/main">
              <a:ext uri="{FF2B5EF4-FFF2-40B4-BE49-F238E27FC236}">
                <a16:creationId xmlns:a16="http://schemas.microsoft.com/office/drawing/2014/main" id="{AC87323A-7E89-4C32-8D72-C7E63C214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14700"/>
            <a:ext cx="11182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7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doc-path-2">
            <a:extLst xmlns:a="http://schemas.openxmlformats.org/drawingml/2006/main">
              <a:ext uri="{FF2B5EF4-FFF2-40B4-BE49-F238E27FC236}">
                <a16:creationId xmlns:a16="http://schemas.microsoft.com/office/drawing/2014/main" id="{4E191C81-96BF-41D1-A3F3-30C95E1D8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433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64A2B"/>
                </a:solidFill>
              </a:defRPr>
            </a:pPr>
            <a:r>
              <a:rPr sz="1425" b="0">
                <a:solidFill>
                  <a:srgbClr val="B64A2B"/>
                </a:solidFill>
              </a:rPr>
              <a:t>论文/</a:t>
            </a:r>
          </a:p>
        </p:txBody>
      </p:sp>
      <p:sp>
        <p:nvSpPr>
          <p:cNvPr id="13" name="doc-sub-2">
            <a:extLst xmlns:a="http://schemas.openxmlformats.org/drawingml/2006/main">
              <a:ext uri="{FF2B5EF4-FFF2-40B4-BE49-F238E27FC236}">
                <a16:creationId xmlns:a16="http://schemas.microsoft.com/office/drawing/2014/main" id="{1595300D-A5D1-4C8C-B970-624F4AB9D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5433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docx版/ · latex版/ · 新增图表/</a:t>
            </a:r>
          </a:p>
        </p:txBody>
      </p:sp>
      <p:sp>
        <p:nvSpPr>
          <p:cNvPr id="14" name="doc-body-2">
            <a:extLst xmlns:a="http://schemas.openxmlformats.org/drawingml/2006/main">
              <a:ext uri="{FF2B5EF4-FFF2-40B4-BE49-F238E27FC236}">
                <a16:creationId xmlns:a16="http://schemas.microsoft.com/office/drawing/2014/main" id="{18993951-825C-4E7B-8512-1C7738522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524250"/>
            <a:ext cx="30003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</a:defRPr>
            </a:pPr>
            <a:r>
              <a:rPr sz="1200" b="0">
                <a:solidFill>
                  <a:srgbClr val="666666"/>
                </a:solidFill>
              </a:rPr>
              <a:t>docx版/ 管理修订审计；latex版/ 管理正文、引用与编译；新增图表/ 存放补图脚本。</a:t>
            </a:r>
          </a:p>
        </p:txBody>
      </p:sp>
      <p:sp>
        <p:nvSpPr>
          <p:cNvPr id="15" name="doc-rule-2">
            <a:extLst xmlns:a="http://schemas.openxmlformats.org/drawingml/2006/main">
              <a:ext uri="{FF2B5EF4-FFF2-40B4-BE49-F238E27FC236}">
                <a16:creationId xmlns:a16="http://schemas.microsoft.com/office/drawing/2014/main" id="{F3B115E0-D9E9-4E35-8783-BA1353618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24350"/>
            <a:ext cx="11182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7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doc-path-3">
            <a:extLst xmlns:a="http://schemas.openxmlformats.org/drawingml/2006/main">
              <a:ext uri="{FF2B5EF4-FFF2-40B4-BE49-F238E27FC236}">
                <a16:creationId xmlns:a16="http://schemas.microsoft.com/office/drawing/2014/main" id="{7F0DFD80-23FB-4FCA-955C-18A27A909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529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64A2B"/>
                </a:solidFill>
              </a:defRPr>
            </a:pPr>
            <a:r>
              <a:rPr sz="1425" b="0">
                <a:solidFill>
                  <a:srgbClr val="B64A2B"/>
                </a:solidFill>
              </a:rPr>
              <a:t>outputs/</a:t>
            </a:r>
          </a:p>
        </p:txBody>
      </p:sp>
      <p:sp>
        <p:nvSpPr>
          <p:cNvPr id="17" name="doc-sub-3">
            <a:extLst xmlns:a="http://schemas.openxmlformats.org/drawingml/2006/main">
              <a:ext uri="{FF2B5EF4-FFF2-40B4-BE49-F238E27FC236}">
                <a16:creationId xmlns:a16="http://schemas.microsoft.com/office/drawing/2014/main" id="{EA632C30-DBA4-4AD1-9BAE-B4773F679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55295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最终 PPTX 与其他对外分享文件</a:t>
            </a:r>
          </a:p>
        </p:txBody>
      </p:sp>
      <p:sp>
        <p:nvSpPr>
          <p:cNvPr id="18" name="doc-body-3">
            <a:extLst xmlns:a="http://schemas.openxmlformats.org/drawingml/2006/main">
              <a:ext uri="{FF2B5EF4-FFF2-40B4-BE49-F238E27FC236}">
                <a16:creationId xmlns:a16="http://schemas.microsoft.com/office/drawing/2014/main" id="{79F50F50-0511-4C71-80F9-50ECDC95D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33900"/>
            <a:ext cx="30003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</a:defRPr>
            </a:pPr>
            <a:r>
              <a:rPr sz="1200" b="0">
                <a:solidFill>
                  <a:srgbClr val="666666"/>
                </a:solidFill>
              </a:rPr>
              <a:t>与 output/ 区分：output/ 是模型运行结果，outputs/ 是面向用户或 GitHub 的最终交付物。</a:t>
            </a:r>
          </a:p>
        </p:txBody>
      </p:sp>
      <p:sp>
        <p:nvSpPr>
          <p:cNvPr id="19" name="aux-head">
            <a:extLst xmlns:a="http://schemas.openxmlformats.org/drawingml/2006/main">
              <a:ext uri="{FF2B5EF4-FFF2-40B4-BE49-F238E27FC236}">
                <a16:creationId xmlns:a16="http://schemas.microsoft.com/office/drawing/2014/main" id="{BE0722A9-7A9A-43FA-823D-22BFDA529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626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辅助与历史目录</a:t>
            </a:r>
          </a:p>
        </p:txBody>
      </p:sp>
      <p:sp>
        <p:nvSpPr>
          <p:cNvPr id="20" name="aux-path">
            <a:extLst xmlns:a="http://schemas.openxmlformats.org/drawingml/2006/main">
              <a:ext uri="{FF2B5EF4-FFF2-40B4-BE49-F238E27FC236}">
                <a16:creationId xmlns:a16="http://schemas.microsoft.com/office/drawing/2014/main" id="{FC069F36-1538-41C0-9FA8-9A07E247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562600"/>
            <a:ext cx="619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history/ · tmp/ · .venv/ · .uv-cache/ · .git/ · .codex/ · __pycache__/</a:t>
            </a:r>
          </a:p>
        </p:txBody>
      </p:sp>
      <p:sp>
        <p:nvSpPr>
          <p:cNvPr id="21" name="aux-body">
            <a:extLst xmlns:a="http://schemas.openxmlformats.org/drawingml/2006/main">
              <a:ext uri="{FF2B5EF4-FFF2-40B4-BE49-F238E27FC236}">
                <a16:creationId xmlns:a16="http://schemas.microsoft.com/office/drawing/2014/main" id="{67235E1C-40EC-4642-956B-9788D6B12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524500"/>
            <a:ext cx="3000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</a:defRPr>
            </a:pPr>
            <a:r>
              <a:rPr sz="1200" b="0">
                <a:solidFill>
                  <a:srgbClr val="666666"/>
                </a:solidFill>
              </a:rPr>
              <a:t>历史、临时审阅、依赖环境与工具配置，不作为论文结果来源。</a:t>
            </a:r>
          </a:p>
        </p:txBody>
      </p:sp>
      <p:sp>
        <p:nvSpPr>
          <p:cNvPr id="22" name="nav-chain-bg">
            <a:extLst xmlns:a="http://schemas.openxmlformats.org/drawingml/2006/main">
              <a:ext uri="{FF2B5EF4-FFF2-40B4-BE49-F238E27FC236}">
                <a16:creationId xmlns:a16="http://schemas.microsoft.com/office/drawing/2014/main" id="{83F394E2-90C0-40BC-A4F7-4F334AFF3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00750"/>
            <a:ext cx="11182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nav-chain">
            <a:extLst xmlns:a="http://schemas.openxmlformats.org/drawingml/2006/main">
              <a:ext uri="{FF2B5EF4-FFF2-40B4-BE49-F238E27FC236}">
                <a16:creationId xmlns:a16="http://schemas.microsoft.com/office/drawing/2014/main" id="{40B6958B-D279-4A0B-A282-BCABE506D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57900"/>
            <a:ext cx="10839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数据与代码支撑第 3–4 章；评估证据支撑第 5–7 章；草稿与论文目录形成摘要至第 8 章的最终成稿。</a:t>
            </a:r>
          </a:p>
        </p:txBody>
      </p:sp>
      <p:sp>
        <p:nvSpPr>
          <p:cNvPr id="24" name="footer-project-5">
            <a:extLst xmlns:a="http://schemas.openxmlformats.org/drawingml/2006/main">
              <a:ext uri="{FF2B5EF4-FFF2-40B4-BE49-F238E27FC236}">
                <a16:creationId xmlns:a16="http://schemas.microsoft.com/office/drawing/2014/main" id="{E2DA2FAB-FBF3-408B-B50D-97928EBF1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3238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6666"/>
                </a:solidFill>
              </a:defRPr>
            </a:pPr>
            <a:r>
              <a:rPr sz="825" b="0">
                <a:solidFill>
                  <a:srgbClr val="666666"/>
                </a:solidFill>
              </a:rPr>
              <a:t>5080train / PROJECT STRUCTURE</a:t>
            </a:r>
          </a:p>
        </p:txBody>
      </p:sp>
      <p:sp>
        <p:nvSpPr>
          <p:cNvPr id="25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7169AC77-6BAF-4AFC-B085-F85C08AE5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008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111111"/>
                </a:solidFill>
              </a:defRPr>
            </a:pPr>
            <a:r>
              <a:rPr sz="900" b="0">
                <a:solidFill>
                  <a:srgbClr val="111111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71905182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2026-06-25T15:09:00.4600000Z</dcterms:created>
  <dcterms:modified xsi:type="dcterms:W3CDTF">2026-06-25T15:09:00.4600000Z</dcterms:modified>
</coreProperties>
</file>